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EA460-C37D-42D2-8B59-31134B439070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CF317-99F5-4ED9-8951-772C37961C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7015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499" y="964075"/>
            <a:ext cx="3490723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3500" y="4822842"/>
            <a:ext cx="315468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0936" y="964074"/>
            <a:ext cx="405246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7481150" y="4732736"/>
            <a:ext cx="2706690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7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760"/>
            <a:ext cx="8055864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658679"/>
            <a:ext cx="8085582" cy="4925000"/>
          </a:xfrm>
        </p:spPr>
        <p:txBody>
          <a:bodyPr>
            <a:normAutofit/>
          </a:bodyPr>
          <a:lstStyle>
            <a:lvl1pPr>
              <a:defRPr sz="135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900">
                <a:solidFill>
                  <a:schemeClr val="tx1"/>
                </a:solidFill>
              </a:defRPr>
            </a:lvl4pPr>
            <a:lvl5pPr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48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18032"/>
            <a:ext cx="8229600" cy="786384"/>
          </a:xfrm>
        </p:spPr>
        <p:txBody>
          <a:bodyPr anchor="b">
            <a:norm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72630"/>
            <a:ext cx="82296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1"/>
            <a:ext cx="9143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85020" y="5832832"/>
            <a:ext cx="150344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4989940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2578609"/>
            <a:ext cx="5909501" cy="3592629"/>
          </a:xfrm>
        </p:spPr>
        <p:txBody>
          <a:bodyPr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1714500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90850" y="368301"/>
            <a:ext cx="5531644" cy="1014413"/>
          </a:xfrm>
        </p:spPr>
        <p:txBody>
          <a:bodyPr anchor="ctr">
            <a:normAutofit/>
          </a:bodyPr>
          <a:lstStyle>
            <a:lvl1pPr algn="r"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451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59537"/>
            <a:ext cx="7159752" cy="3675885"/>
          </a:xfrm>
        </p:spPr>
        <p:txBody>
          <a:bodyPr anchor="t">
            <a:normAutofit/>
          </a:bodyPr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3" y="5143500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306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461" y="1296084"/>
            <a:ext cx="3264994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292" y="1296084"/>
            <a:ext cx="3243834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0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528" y="4608576"/>
            <a:ext cx="3127248" cy="1609344"/>
          </a:xfrm>
        </p:spPr>
        <p:txBody>
          <a:bodyPr anchor="t" anchorCtr="0">
            <a:noAutofit/>
          </a:bodyPr>
          <a:lstStyle>
            <a:lvl1pPr algn="ctr">
              <a:defRPr sz="3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42976" y="1097280"/>
            <a:ext cx="2832353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098" y="841248"/>
            <a:ext cx="3161538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22815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88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2615184"/>
            <a:ext cx="2859786" cy="3557016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9804" y="841248"/>
            <a:ext cx="3717131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76215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92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841248"/>
            <a:ext cx="2249424" cy="5184648"/>
          </a:xfrm>
        </p:spPr>
        <p:txBody>
          <a:bodyPr anchor="t" anchorCtr="0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00194" y="841248"/>
            <a:ext cx="4695116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050">
                <a:solidFill>
                  <a:schemeClr val="tx1"/>
                </a:solidFill>
              </a:defRPr>
            </a:lvl2pPr>
            <a:lvl3pPr>
              <a:defRPr sz="105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313665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915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364" y="990512"/>
            <a:ext cx="1924195" cy="1858941"/>
          </a:xfrm>
        </p:spPr>
        <p:txBody>
          <a:bodyPr anchor="b"/>
          <a:lstStyle>
            <a:lvl1pPr>
              <a:def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6244742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24204" y="3011335"/>
            <a:ext cx="1919983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171450" indent="0">
              <a:buNone/>
              <a:defRPr lang="en-US" sz="1050" dirty="0"/>
            </a:lvl2pPr>
            <a:lvl3pPr marL="342900" indent="0">
              <a:buNone/>
              <a:defRPr lang="en-US" sz="1050" dirty="0"/>
            </a:lvl3pPr>
            <a:lvl4pPr marL="514350" indent="0">
              <a:buNone/>
              <a:defRPr lang="en-US" sz="1050" dirty="0"/>
            </a:lvl4pPr>
            <a:lvl5pPr marL="6858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7347733" y="1638599"/>
            <a:ext cx="2973522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481150" y="4732736"/>
            <a:ext cx="270669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34222" y="6356351"/>
            <a:ext cx="43096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40428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824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640" y="548640"/>
            <a:ext cx="4569919" cy="1143000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595414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1828800"/>
            <a:ext cx="4553712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59786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7481150" y="4732736"/>
            <a:ext cx="2706690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7347734" y="1638598"/>
            <a:ext cx="297352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86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48640"/>
            <a:ext cx="4601718" cy="1143000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828800"/>
            <a:ext cx="4601718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50408" y="0"/>
            <a:ext cx="3593592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5365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086645" y="4732736"/>
            <a:ext cx="2706690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220061" y="1638598"/>
            <a:ext cx="297352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6356351"/>
            <a:ext cx="43096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040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5143500" cy="932688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51435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8800" y="0"/>
            <a:ext cx="307520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05832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086645" y="4732736"/>
            <a:ext cx="2706690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220061" y="1638598"/>
            <a:ext cx="297352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6356351"/>
            <a:ext cx="43096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58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83414"/>
            <a:ext cx="3271266" cy="1262639"/>
          </a:xfrm>
        </p:spPr>
        <p:txBody>
          <a:bodyPr anchor="b">
            <a:no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1" y="1979461"/>
            <a:ext cx="3270647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09110" y="0"/>
            <a:ext cx="483489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299095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086645" y="4732736"/>
            <a:ext cx="2706690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220061" y="1638598"/>
            <a:ext cx="297352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6356351"/>
            <a:ext cx="43096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418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20040"/>
            <a:ext cx="3429000" cy="932688"/>
          </a:xfrm>
        </p:spPr>
        <p:txBody>
          <a:bodyPr anchor="b"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0" y="1380744"/>
            <a:ext cx="3429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38291" y="0"/>
            <a:ext cx="470570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43379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1086645" y="4732736"/>
            <a:ext cx="2706690" cy="273844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220061" y="1638598"/>
            <a:ext cx="2973522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8338" y="6356351"/>
            <a:ext cx="430965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8986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5012268"/>
            <a:ext cx="2804922" cy="1390330"/>
          </a:xfrm>
        </p:spPr>
        <p:txBody>
          <a:bodyPr anchor="t"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9144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587902" y="5729950"/>
            <a:ext cx="170920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740" y="5012267"/>
            <a:ext cx="48006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350">
                <a:solidFill>
                  <a:schemeClr val="tx1"/>
                </a:solidFill>
              </a:defRPr>
            </a:lvl1pPr>
            <a:lvl2pPr marL="17145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2pPr>
            <a:lvl3pPr marL="342900" indent="0">
              <a:buFont typeface="Arial" panose="020B0604020202020204" pitchFamily="34" charset="0"/>
              <a:buNone/>
              <a:defRPr sz="1050">
                <a:solidFill>
                  <a:schemeClr val="tx1"/>
                </a:solidFill>
              </a:defRPr>
            </a:lvl3pPr>
            <a:lvl4pPr marL="514350" indent="0"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</a:defRPr>
            </a:lvl4pPr>
            <a:lvl5pPr marL="685800" indent="0">
              <a:buFont typeface="Arial" panose="020B0604020202020204" pitchFamily="34" charset="0"/>
              <a:buNone/>
              <a:defRPr sz="825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8229128" y="5480714"/>
            <a:ext cx="1210734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454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1" y="4882896"/>
            <a:ext cx="2743202" cy="1453896"/>
          </a:xfrm>
        </p:spPr>
        <p:txBody>
          <a:bodyPr anchor="t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1" y="548643"/>
            <a:ext cx="2617631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703320" y="549275"/>
            <a:ext cx="4920854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84588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945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623" y="559341"/>
            <a:ext cx="806675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220061" y="1638598"/>
            <a:ext cx="2973522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1086646" y="4640587"/>
            <a:ext cx="2706690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6427" y="6264202"/>
            <a:ext cx="43096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1713653"/>
            <a:ext cx="3290259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4196" y="1713654"/>
            <a:ext cx="4899803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14313" lvl="0" indent="-214313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91287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050" y="4937761"/>
            <a:ext cx="5240653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750"/>
              </a:spcBef>
              <a:defRPr sz="21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3050" y="549022"/>
            <a:ext cx="7091363" cy="4333875"/>
          </a:xfrm>
        </p:spPr>
        <p:txBody>
          <a:bodyPr anchor="b">
            <a:normAutofit/>
          </a:bodyPr>
          <a:lstStyle>
            <a:lvl1pPr>
              <a:defRPr sz="174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0287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678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486" y="-1228126"/>
            <a:ext cx="798957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8104" y="2268749"/>
            <a:ext cx="5207793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1pPr>
            <a:lvl2pPr marL="17145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2pPr>
            <a:lvl3pPr marL="34290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3pPr>
            <a:lvl4pPr marL="51435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4pPr>
            <a:lvl5pPr marL="685800" indent="0" algn="ctr">
              <a:lnSpc>
                <a:spcPct val="110000"/>
              </a:lnSpc>
              <a:buNone/>
              <a:defRPr sz="33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533205" y="-116541"/>
            <a:ext cx="6077590" cy="788302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3493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5126" y="5669280"/>
            <a:ext cx="4733748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750"/>
              </a:spcBef>
              <a:defRPr sz="135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47851" y="1744578"/>
            <a:ext cx="5248298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5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1287380" y="-368135"/>
            <a:ext cx="6569242" cy="7883029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483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760"/>
            <a:ext cx="8055864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8878" y="2103439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13710" y="2103122"/>
            <a:ext cx="38862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489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760"/>
            <a:ext cx="8055864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103120"/>
            <a:ext cx="386834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48879" y="2743201"/>
            <a:ext cx="3867890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32020" y="2103120"/>
            <a:ext cx="3887391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500" b="0" cap="all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732021" y="2743201"/>
            <a:ext cx="3887391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95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760"/>
            <a:ext cx="8055864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2835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627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7" y="457200"/>
            <a:ext cx="5506730" cy="1133856"/>
          </a:xfrm>
          <a:noFill/>
        </p:spPr>
        <p:txBody>
          <a:bodyPr anchor="b">
            <a:noAutofit/>
          </a:bodyPr>
          <a:lstStyle>
            <a:lvl1pPr>
              <a:defRPr sz="4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936" y="2624328"/>
            <a:ext cx="781812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5671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65760"/>
            <a:ext cx="8055864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0" y="2301837"/>
            <a:ext cx="8055863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171450" indent="0">
              <a:buNone/>
              <a:defRPr>
                <a:solidFill>
                  <a:schemeClr val="tx1"/>
                </a:solidFill>
              </a:defRPr>
            </a:lvl2pPr>
            <a:lvl3pPr marL="342900" indent="0">
              <a:buNone/>
              <a:defRPr>
                <a:solidFill>
                  <a:schemeClr val="tx1"/>
                </a:solidFill>
              </a:defRPr>
            </a:lvl3pPr>
            <a:lvl4pPr marL="514350" indent="0">
              <a:buNone/>
              <a:defRPr>
                <a:solidFill>
                  <a:schemeClr val="tx1"/>
                </a:solidFill>
              </a:defRPr>
            </a:lvl4pPr>
            <a:lvl5pPr marL="685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636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064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39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84991"/>
            <a:ext cx="78867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220061" y="1638598"/>
            <a:ext cx="297352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2061470"/>
            <a:ext cx="78867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481150" y="4732736"/>
            <a:ext cx="270669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5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4222" y="6356351"/>
            <a:ext cx="4309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75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3" y="1824111"/>
            <a:ext cx="91439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593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10000"/>
        </a:lnSpc>
        <a:spcBef>
          <a:spcPts val="750"/>
        </a:spcBef>
        <a:buSzPct val="80000"/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Goudy Old Style" panose="02020502050305020303" pitchFamily="18" charset="0"/>
        <a:buChar char="–"/>
        <a:defRPr sz="12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Goudy Old Style" panose="02020502050305020303" pitchFamily="18" charset="0"/>
        <a:buChar char="–"/>
        <a:defRPr sz="105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71450" algn="l" defTabSz="685800" rtl="0" eaLnBrk="1" latinLnBrk="0" hangingPunct="1">
        <a:lnSpc>
          <a:spcPct val="110000"/>
        </a:lnSpc>
        <a:spcBef>
          <a:spcPts val="375"/>
        </a:spcBef>
        <a:buSzPct val="80000"/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98169"/>
            <a:ext cx="7772400" cy="1470025"/>
          </a:xfrm>
        </p:spPr>
        <p:txBody>
          <a:bodyPr>
            <a:normAutofit fontScale="90000"/>
          </a:bodyPr>
          <a:lstStyle/>
          <a:p>
            <a:r>
              <a:rPr sz="4400" b="1" dirty="0"/>
              <a:t>Decision Support Systems &amp; Data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552700"/>
            <a:ext cx="7887929" cy="1752600"/>
          </a:xfrm>
        </p:spPr>
        <p:txBody>
          <a:bodyPr>
            <a:normAutofit/>
          </a:bodyPr>
          <a:lstStyle/>
          <a:p>
            <a:pPr algn="ctr"/>
            <a:r>
              <a:rPr sz="2400" b="1" dirty="0">
                <a:solidFill>
                  <a:schemeClr val="tx1"/>
                </a:solidFill>
              </a:rPr>
              <a:t>CO1: Design data warehouse architectures with appropriate dimensional models for effective decision support systems.</a:t>
            </a:r>
          </a:p>
          <a:p>
            <a:pPr algn="ctr"/>
            <a:endParaRPr sz="24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4A3F0-5EAE-6872-D844-9220679854C5}"/>
              </a:ext>
            </a:extLst>
          </p:cNvPr>
          <p:cNvSpPr txBox="1"/>
          <p:nvPr/>
        </p:nvSpPr>
        <p:spPr>
          <a:xfrm>
            <a:off x="3785419" y="4886632"/>
            <a:ext cx="5024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                             Presented by:</a:t>
            </a:r>
          </a:p>
          <a:p>
            <a:r>
              <a:rPr lang="en-US" b="1" dirty="0"/>
              <a:t>                                         BHARATH P(192511282)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Support Systems (DSS)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/>
              <a:t>A Decision Support System is an interactive computer-based system designed to assist decision-makers by using data, models, and analytical tools. It combines data, analytical models, and software tools to solve semi-structured and unstructured business problems.</a:t>
            </a:r>
          </a:p>
          <a:p>
            <a:r>
              <a:rPr lang="en-IN" sz="2000" b="1" dirty="0"/>
              <a:t>Why is DSS Important?</a:t>
            </a:r>
          </a:p>
          <a:p>
            <a:r>
              <a:rPr lang="en-IN" sz="2000" dirty="0"/>
              <a:t>Improves the quality of business decisions. </a:t>
            </a:r>
          </a:p>
          <a:p>
            <a:r>
              <a:rPr lang="en-IN" sz="2000" dirty="0"/>
              <a:t>Supports strategic, tactical, and operational planning. </a:t>
            </a:r>
          </a:p>
          <a:p>
            <a:r>
              <a:rPr lang="en-IN" sz="2000" dirty="0"/>
              <a:t>Helps organizations respond quickly to changing business conditions. </a:t>
            </a:r>
          </a:p>
          <a:p>
            <a:r>
              <a:rPr lang="en-IN" sz="2000" dirty="0"/>
              <a:t>Reduces uncertainty by providing accurate information.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Types</a:t>
            </a:r>
            <a:r>
              <a:rPr lang="en-IN" dirty="0"/>
              <a:t> OF </a:t>
            </a:r>
            <a:r>
              <a:rPr dirty="0"/>
              <a:t>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757957"/>
            <a:ext cx="6711654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sz="2000" b="1" dirty="0"/>
          </a:p>
          <a:p>
            <a:r>
              <a:rPr lang="en-IN" sz="2000" b="1" dirty="0"/>
              <a:t>Data-driven:</a:t>
            </a:r>
            <a:r>
              <a:rPr lang="en-IN" sz="2000" dirty="0"/>
              <a:t> Focuses on </a:t>
            </a:r>
            <a:r>
              <a:rPr lang="en-IN" sz="2000" dirty="0" err="1"/>
              <a:t>analyzing</a:t>
            </a:r>
            <a:r>
              <a:rPr lang="en-IN" sz="2000" dirty="0"/>
              <a:t> large volumes of structured data. </a:t>
            </a:r>
          </a:p>
          <a:p>
            <a:r>
              <a:rPr lang="en-IN" sz="2000" b="1" dirty="0"/>
              <a:t>Model-driven:</a:t>
            </a:r>
            <a:r>
              <a:rPr lang="en-IN" sz="2000" dirty="0"/>
              <a:t> Uses analytical models to support decision-making. </a:t>
            </a:r>
          </a:p>
          <a:p>
            <a:r>
              <a:rPr lang="en-IN" sz="2000" b="1" dirty="0"/>
              <a:t>Knowledge-driven:</a:t>
            </a:r>
            <a:r>
              <a:rPr lang="en-IN" sz="2000" dirty="0"/>
              <a:t> Provides expert recommendations based on stored knowledge. </a:t>
            </a:r>
          </a:p>
          <a:p>
            <a:r>
              <a:rPr lang="en-IN" sz="2000" b="1" dirty="0"/>
              <a:t>Document-driven:</a:t>
            </a:r>
            <a:r>
              <a:rPr lang="en-IN" sz="2000" dirty="0"/>
              <a:t> Retrieves and </a:t>
            </a:r>
            <a:r>
              <a:rPr lang="en-IN" sz="2000" dirty="0" err="1"/>
              <a:t>analyzes</a:t>
            </a:r>
            <a:r>
              <a:rPr lang="en-IN" sz="2000" dirty="0"/>
              <a:t> information from documents. </a:t>
            </a:r>
          </a:p>
          <a:p>
            <a:r>
              <a:rPr lang="en-IN" sz="2000" b="1" dirty="0"/>
              <a:t>Communication-driven:</a:t>
            </a:r>
            <a:r>
              <a:rPr lang="en-IN" sz="2000" dirty="0"/>
              <a:t> Supports collaboration and group decision-making.</a:t>
            </a:r>
          </a:p>
          <a:p>
            <a:pPr marL="0" indent="0">
              <a:buNone/>
            </a:pPr>
            <a:endParaRPr lang="en-IN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948" y="79092"/>
            <a:ext cx="7055380" cy="1400530"/>
          </a:xfrm>
        </p:spPr>
        <p:txBody>
          <a:bodyPr>
            <a:normAutofit/>
          </a:bodyPr>
          <a:lstStyle/>
          <a:p>
            <a:r>
              <a:rPr dirty="0"/>
              <a:t>Operational Systems vs DSS (OLTP vs OLAP)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B870FAD-92E9-E5F7-D87A-7ED2E4A253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0528703"/>
              </p:ext>
            </p:extLst>
          </p:nvPr>
        </p:nvGraphicFramePr>
        <p:xfrm>
          <a:off x="471948" y="1558414"/>
          <a:ext cx="8214852" cy="41836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28452">
                  <a:extLst>
                    <a:ext uri="{9D8B030D-6E8A-4147-A177-3AD203B41FA5}">
                      <a16:colId xmlns:a16="http://schemas.microsoft.com/office/drawing/2014/main" val="413322917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68693707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805190773"/>
                    </a:ext>
                  </a:extLst>
                </a:gridCol>
              </a:tblGrid>
              <a:tr h="100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OLTP (Online Transaction Processing)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OLAP (Online Analytical Processing)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1895022"/>
                  </a:ext>
                </a:extLst>
              </a:tr>
              <a:tr h="71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Purpose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Processes daily business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Analyzes</a:t>
                      </a:r>
                      <a:r>
                        <a:rPr lang="en-IN" dirty="0"/>
                        <a:t> data for decision-making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072335"/>
                  </a:ext>
                </a:extLst>
              </a:tr>
              <a:tr h="71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current and operational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Uses historical and summarized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17067"/>
                  </a:ext>
                </a:extLst>
              </a:tr>
              <a:tr h="10166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Users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by many employees and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by managers and business analysts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4072698"/>
                  </a:ext>
                </a:extLst>
              </a:tr>
              <a:tr h="7394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Operations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Insert, Update, Delete transactions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Query, Analysis, Reporting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62825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of Data Warehouse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61471"/>
            <a:ext cx="8387531" cy="826212"/>
          </a:xfrm>
        </p:spPr>
        <p:txBody>
          <a:bodyPr>
            <a:normAutofit lnSpcReduction="10000"/>
          </a:bodyPr>
          <a:lstStyle/>
          <a:p>
            <a:pPr>
              <a:defRPr sz="2000"/>
            </a:pPr>
            <a:r>
              <a:rPr lang="en-IN" sz="2400" b="1" dirty="0"/>
              <a:t>Definition:</a:t>
            </a:r>
            <a:r>
              <a:rPr lang="en-IN" sz="2400" dirty="0"/>
              <a:t> A Data Warehouse is a centralized repository that stores integrated historical data.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43F022-8326-1B58-BBEC-CF5F35AC6435}"/>
              </a:ext>
            </a:extLst>
          </p:cNvPr>
          <p:cNvSpPr txBox="1"/>
          <p:nvPr/>
        </p:nvSpPr>
        <p:spPr>
          <a:xfrm>
            <a:off x="2609235" y="2887682"/>
            <a:ext cx="343391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Business Users</a:t>
            </a:r>
          </a:p>
          <a:p>
            <a:r>
              <a:rPr lang="en-IN" dirty="0"/>
              <a:t>                      │</a:t>
            </a:r>
          </a:p>
          <a:p>
            <a:r>
              <a:rPr lang="en-IN" dirty="0"/>
              <a:t>                      ▼</a:t>
            </a:r>
          </a:p>
          <a:p>
            <a:r>
              <a:rPr lang="en-IN" dirty="0"/>
              <a:t>        Top Tier (BI Tools)</a:t>
            </a:r>
          </a:p>
          <a:p>
            <a:r>
              <a:rPr lang="en-IN" dirty="0"/>
              <a:t>   Reports • Dashboards • Charts</a:t>
            </a:r>
          </a:p>
          <a:p>
            <a:r>
              <a:rPr lang="en-IN" dirty="0"/>
              <a:t>                      │</a:t>
            </a:r>
          </a:p>
          <a:p>
            <a:r>
              <a:rPr lang="en-IN" dirty="0"/>
              <a:t>                      ▼</a:t>
            </a:r>
          </a:p>
          <a:p>
            <a:r>
              <a:rPr lang="en-IN" dirty="0"/>
              <a:t>        Middle Tier (OLAP Server)</a:t>
            </a:r>
          </a:p>
          <a:p>
            <a:r>
              <a:rPr lang="en-IN" dirty="0"/>
              <a:t>     Data Analysis &amp; Query Processing</a:t>
            </a:r>
          </a:p>
          <a:p>
            <a:r>
              <a:rPr lang="en-IN" dirty="0"/>
              <a:t>                      │</a:t>
            </a:r>
          </a:p>
          <a:p>
            <a:r>
              <a:rPr lang="en-IN" dirty="0"/>
              <a:t>                      ▼</a:t>
            </a:r>
          </a:p>
          <a:p>
            <a:r>
              <a:rPr lang="en-IN" dirty="0"/>
              <a:t> Bottom Tier (Data Sources + ETL)</a:t>
            </a:r>
          </a:p>
          <a:p>
            <a:r>
              <a:rPr lang="en-IN" dirty="0"/>
              <a:t> Databases • Excel • ERP • CRM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ETL, Data Marts &amp; Metadata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" y="2139419"/>
            <a:ext cx="8911590" cy="4114801"/>
          </a:xfrm>
        </p:spPr>
        <p:txBody>
          <a:bodyPr>
            <a:normAutofit/>
          </a:bodyPr>
          <a:lstStyle/>
          <a:p>
            <a:r>
              <a:rPr lang="en-IN" sz="1600" b="1" dirty="0"/>
              <a:t>Extract:</a:t>
            </a:r>
            <a:r>
              <a:rPr lang="en-IN" sz="1600" dirty="0"/>
              <a:t> Collects data from multiple source systems. </a:t>
            </a:r>
          </a:p>
          <a:p>
            <a:r>
              <a:rPr lang="en-IN" sz="1600" b="1" dirty="0"/>
              <a:t>Transform:</a:t>
            </a:r>
            <a:r>
              <a:rPr lang="en-IN" sz="1600" dirty="0"/>
              <a:t> Cleans, converts, and formats data for consistency. </a:t>
            </a:r>
          </a:p>
          <a:p>
            <a:r>
              <a:rPr lang="en-IN" sz="1600" b="1" dirty="0"/>
              <a:t>Load:</a:t>
            </a:r>
            <a:r>
              <a:rPr lang="en-IN" sz="1600" dirty="0"/>
              <a:t> Stores the transformed data into the data warehouse. </a:t>
            </a:r>
          </a:p>
          <a:p>
            <a:r>
              <a:rPr lang="en-IN" sz="1600" b="1" dirty="0"/>
              <a:t>Data Mart:</a:t>
            </a:r>
            <a:r>
              <a:rPr lang="en-IN" sz="1600" dirty="0"/>
              <a:t> A department-specific subset of a data warehouse. </a:t>
            </a:r>
          </a:p>
          <a:p>
            <a:r>
              <a:rPr lang="en-IN" sz="1600" b="1" dirty="0"/>
              <a:t>Metadata:</a:t>
            </a:r>
            <a:r>
              <a:rPr lang="en-IN" sz="1600" dirty="0"/>
              <a:t> Information that describes the structure and contents of stored data.</a:t>
            </a:r>
          </a:p>
          <a:p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2DF3EB-FA54-E453-7048-AD940BDE02E6}"/>
              </a:ext>
            </a:extLst>
          </p:cNvPr>
          <p:cNvSpPr txBox="1"/>
          <p:nvPr/>
        </p:nvSpPr>
        <p:spPr>
          <a:xfrm>
            <a:off x="6760845" y="2139419"/>
            <a:ext cx="220789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50" dirty="0"/>
              <a:t>Business Data</a:t>
            </a:r>
          </a:p>
          <a:p>
            <a:r>
              <a:rPr lang="en-IN" sz="1350" dirty="0"/>
              <a:t>      │</a:t>
            </a:r>
          </a:p>
          <a:p>
            <a:r>
              <a:rPr lang="en-IN" sz="1350" dirty="0"/>
              <a:t>      ▼</a:t>
            </a:r>
          </a:p>
          <a:p>
            <a:r>
              <a:rPr lang="en-IN" sz="1350" dirty="0"/>
              <a:t> Data Collection</a:t>
            </a:r>
          </a:p>
          <a:p>
            <a:r>
              <a:rPr lang="en-IN" sz="1350" dirty="0"/>
              <a:t>      │</a:t>
            </a:r>
          </a:p>
          <a:p>
            <a:r>
              <a:rPr lang="en-IN" sz="1350" dirty="0"/>
              <a:t>      ▼</a:t>
            </a:r>
          </a:p>
          <a:p>
            <a:r>
              <a:rPr lang="en-IN" sz="1350" dirty="0"/>
              <a:t> Data Processing</a:t>
            </a:r>
          </a:p>
          <a:p>
            <a:r>
              <a:rPr lang="en-IN" sz="1350" dirty="0"/>
              <a:t>      │</a:t>
            </a:r>
          </a:p>
          <a:p>
            <a:r>
              <a:rPr lang="en-IN" sz="1350" dirty="0"/>
              <a:t>      ▼</a:t>
            </a:r>
          </a:p>
          <a:p>
            <a:r>
              <a:rPr lang="en-IN" sz="1350" dirty="0"/>
              <a:t> Analytical Models</a:t>
            </a:r>
          </a:p>
          <a:p>
            <a:r>
              <a:rPr lang="en-IN" sz="1350" dirty="0"/>
              <a:t>      │</a:t>
            </a:r>
          </a:p>
          <a:p>
            <a:r>
              <a:rPr lang="en-IN" sz="1350" dirty="0"/>
              <a:t>      ▼</a:t>
            </a:r>
          </a:p>
          <a:p>
            <a:r>
              <a:rPr lang="en-IN" sz="1350" dirty="0"/>
              <a:t> Report Generation</a:t>
            </a:r>
          </a:p>
          <a:p>
            <a:r>
              <a:rPr lang="en-IN" sz="1350" dirty="0"/>
              <a:t>      │</a:t>
            </a:r>
          </a:p>
          <a:p>
            <a:r>
              <a:rPr lang="en-IN" sz="1350" dirty="0"/>
              <a:t>      ▼</a:t>
            </a:r>
          </a:p>
          <a:p>
            <a:r>
              <a:rPr lang="en-IN" sz="1350" dirty="0"/>
              <a:t> Manager Decision 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OLAP &amp; Data Cubes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rPr lang="en-IN" sz="2800" b="1" dirty="0"/>
              <a:t>OLAP:</a:t>
            </a:r>
            <a:r>
              <a:rPr lang="en-IN" sz="2800" dirty="0"/>
              <a:t> Performs multidimensional analysis to support business decisions. </a:t>
            </a:r>
          </a:p>
          <a:p>
            <a:pPr>
              <a:defRPr sz="2000"/>
            </a:pPr>
            <a:r>
              <a:rPr lang="en-IN" sz="2800" b="1" dirty="0"/>
              <a:t>Data Cube:</a:t>
            </a:r>
            <a:r>
              <a:rPr lang="en-IN" sz="2800" dirty="0"/>
              <a:t> Organizes data by Product, Time, and Location dimensions. </a:t>
            </a:r>
          </a:p>
          <a:p>
            <a:pPr>
              <a:defRPr sz="2000"/>
            </a:pPr>
            <a:r>
              <a:rPr lang="en-IN" sz="2800" b="1" dirty="0"/>
              <a:t>Operations:</a:t>
            </a:r>
            <a:r>
              <a:rPr lang="en-IN" sz="2800" dirty="0"/>
              <a:t> Slice, Dice, Roll-up, and Drill-down enable flexible data analysis. </a:t>
            </a:r>
          </a:p>
          <a:p>
            <a:pPr>
              <a:defRPr sz="2000"/>
            </a:pPr>
            <a:r>
              <a:rPr lang="en-IN" sz="2800" b="1" dirty="0"/>
              <a:t>Slice &amp; Dice:</a:t>
            </a:r>
            <a:r>
              <a:rPr lang="en-IN" sz="2800" dirty="0"/>
              <a:t> Slice filters one dimension, while Dice </a:t>
            </a:r>
            <a:r>
              <a:rPr lang="en-IN" sz="2800" dirty="0" err="1"/>
              <a:t>analyzes</a:t>
            </a:r>
            <a:r>
              <a:rPr lang="en-IN" sz="2800" dirty="0"/>
              <a:t> multiple dimensions. </a:t>
            </a:r>
          </a:p>
          <a:p>
            <a:pPr>
              <a:defRPr sz="2000"/>
            </a:pPr>
            <a:r>
              <a:rPr lang="en-IN" sz="2800" b="1" dirty="0"/>
              <a:t>Applications:</a:t>
            </a:r>
            <a:r>
              <a:rPr lang="en-IN" sz="2800" dirty="0"/>
              <a:t> OLAP is widely used in sales analysis and business intelligence.</a:t>
            </a:r>
            <a:endParaRPr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Dimensional 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rPr lang="en-IN" sz="2800" b="1" dirty="0"/>
              <a:t>Fact Table:</a:t>
            </a:r>
            <a:r>
              <a:rPr lang="en-IN" sz="2800" dirty="0"/>
              <a:t> Stores numerical measures and business transaction data. </a:t>
            </a:r>
          </a:p>
          <a:p>
            <a:pPr>
              <a:defRPr sz="2000"/>
            </a:pPr>
            <a:r>
              <a:rPr lang="en-IN" sz="2800" b="1" dirty="0"/>
              <a:t>Dimension Tables:</a:t>
            </a:r>
            <a:r>
              <a:rPr lang="en-IN" sz="2800" dirty="0"/>
              <a:t> Store descriptive data such as Customer, Product, Time, and Location. </a:t>
            </a:r>
          </a:p>
          <a:p>
            <a:pPr>
              <a:defRPr sz="2000"/>
            </a:pPr>
            <a:r>
              <a:rPr lang="en-IN" sz="2800" b="1" dirty="0"/>
              <a:t>Star Schema:</a:t>
            </a:r>
            <a:r>
              <a:rPr lang="en-IN" sz="2800" dirty="0"/>
              <a:t> Uses one fact table with multiple dimension tables for fast querying. </a:t>
            </a:r>
          </a:p>
          <a:p>
            <a:pPr>
              <a:defRPr sz="2000"/>
            </a:pPr>
            <a:r>
              <a:rPr lang="en-IN" sz="2800" b="1" dirty="0"/>
              <a:t>Snowflake Schema:</a:t>
            </a:r>
            <a:r>
              <a:rPr lang="en-IN" sz="2800" dirty="0"/>
              <a:t> Uses normalized dimension tables to reduce data redundancy. </a:t>
            </a:r>
          </a:p>
          <a:p>
            <a:pPr>
              <a:defRPr sz="2000"/>
            </a:pPr>
            <a:r>
              <a:rPr lang="en-IN" sz="2800" b="1" dirty="0"/>
              <a:t>Schema Difference:</a:t>
            </a:r>
            <a:r>
              <a:rPr lang="en-IN" sz="2800" dirty="0"/>
              <a:t> Star Schema is simpler and faster, while Snowflake Schema is more normalized and space-efficient.</a:t>
            </a:r>
            <a:endParaRPr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Query Processing, BI Tools &amp; KNIME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lang="en-IN" sz="2800" b="1" dirty="0"/>
              <a:t>Parsing:</a:t>
            </a:r>
            <a:r>
              <a:rPr lang="en-IN" sz="2800" dirty="0"/>
              <a:t> Checks the SQL query for syntax and correctness. </a:t>
            </a:r>
          </a:p>
          <a:p>
            <a:pPr>
              <a:defRPr sz="2000"/>
            </a:pPr>
            <a:r>
              <a:rPr lang="en-IN" sz="2800" b="1" dirty="0"/>
              <a:t>Optimization:</a:t>
            </a:r>
            <a:r>
              <a:rPr lang="en-IN" sz="2800" dirty="0"/>
              <a:t> Selects the most efficient execution plan for the query. </a:t>
            </a:r>
          </a:p>
          <a:p>
            <a:pPr>
              <a:defRPr sz="2000"/>
            </a:pPr>
            <a:r>
              <a:rPr lang="en-IN" sz="2800" b="1" dirty="0"/>
              <a:t>Execution:</a:t>
            </a:r>
            <a:r>
              <a:rPr lang="en-IN" sz="2800" dirty="0"/>
              <a:t> Retrieves and returns the requested data from the database. </a:t>
            </a:r>
          </a:p>
          <a:p>
            <a:pPr>
              <a:defRPr sz="2000"/>
            </a:pPr>
            <a:r>
              <a:rPr lang="en-IN" sz="2800" b="1" dirty="0"/>
              <a:t>BI Tools:</a:t>
            </a:r>
            <a:r>
              <a:rPr lang="en-IN" sz="2800" dirty="0"/>
              <a:t> Power BI, Tableau, Apache Superset, and </a:t>
            </a:r>
            <a:r>
              <a:rPr lang="en-IN" sz="2800" dirty="0" err="1"/>
              <a:t>Metabase</a:t>
            </a:r>
            <a:r>
              <a:rPr lang="en-IN" sz="2800" dirty="0"/>
              <a:t> are popular data visualization tools. </a:t>
            </a:r>
            <a:endParaRPr lang="en-IN" sz="2800" b="1" dirty="0"/>
          </a:p>
          <a:p>
            <a:pPr>
              <a:defRPr sz="2000"/>
            </a:pPr>
            <a:r>
              <a:rPr lang="en-IN" sz="2800" b="1" dirty="0"/>
              <a:t>KNIME Workflow:</a:t>
            </a:r>
            <a:r>
              <a:rPr lang="en-IN" sz="2800" dirty="0"/>
              <a:t> Read Data → Transform → </a:t>
            </a:r>
            <a:r>
              <a:rPr lang="en-IN" sz="2800" dirty="0" err="1"/>
              <a:t>Analyze</a:t>
            </a:r>
            <a:r>
              <a:rPr lang="en-IN" sz="2800" dirty="0"/>
              <a:t> → Visualize → Report.</a:t>
            </a:r>
            <a:endParaRPr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Summary:</a:t>
            </a:r>
          </a:p>
          <a:p>
            <a:pPr>
              <a:defRPr sz="2000"/>
            </a:pPr>
            <a:r>
              <a:rPr dirty="0"/>
              <a:t> DSS improves organizational decisions.</a:t>
            </a:r>
          </a:p>
          <a:p>
            <a:pPr>
              <a:defRPr sz="2000"/>
            </a:pPr>
            <a:r>
              <a:rPr dirty="0"/>
              <a:t> Data warehouses store integrated data.</a:t>
            </a:r>
          </a:p>
          <a:p>
            <a:pPr>
              <a:defRPr sz="2000"/>
            </a:pPr>
            <a:r>
              <a:rPr lang="en-IN" dirty="0"/>
              <a:t> </a:t>
            </a:r>
            <a:r>
              <a:rPr dirty="0"/>
              <a:t>OLAP enables fast analysis.</a:t>
            </a:r>
          </a:p>
          <a:p>
            <a:pPr>
              <a:defRPr sz="2000"/>
            </a:pPr>
            <a:r>
              <a:rPr lang="en-IN" dirty="0"/>
              <a:t> </a:t>
            </a:r>
            <a:r>
              <a:rPr dirty="0"/>
              <a:t>BI tools generate meaningful reports.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Future Scope:</a:t>
            </a:r>
          </a:p>
          <a:p>
            <a:pPr>
              <a:defRPr sz="2000"/>
            </a:pPr>
            <a:r>
              <a:rPr dirty="0"/>
              <a:t>AI-powered DSS, Cloud Data Warehousing, Real-time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123</TotalTime>
  <Words>674</Words>
  <Application>Microsoft Office PowerPoint</Application>
  <PresentationFormat>On-screen Show (4:3)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Felix Titling</vt:lpstr>
      <vt:lpstr>Goudy Old Style</vt:lpstr>
      <vt:lpstr>Archway</vt:lpstr>
      <vt:lpstr>Decision Support Systems &amp; Data Warehouse</vt:lpstr>
      <vt:lpstr>Decision Support Systems (DSS)</vt:lpstr>
      <vt:lpstr>Types OF DSS</vt:lpstr>
      <vt:lpstr>Operational Systems vs DSS (OLTP vs OLAP)</vt:lpstr>
      <vt:lpstr>Architecture of Data Warehouse</vt:lpstr>
      <vt:lpstr>ETL, Data Marts &amp; Metadata</vt:lpstr>
      <vt:lpstr>OLAP &amp; Data Cubes</vt:lpstr>
      <vt:lpstr>Dimensional Data Modeling</vt:lpstr>
      <vt:lpstr>Query Processing, BI Tools &amp; KNIME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A</dc:creator>
  <cp:keywords/>
  <dc:description>generated using python-pptx</dc:description>
  <cp:lastModifiedBy>Lokesh A</cp:lastModifiedBy>
  <cp:revision>2</cp:revision>
  <dcterms:created xsi:type="dcterms:W3CDTF">2013-01-27T09:14:16Z</dcterms:created>
  <dcterms:modified xsi:type="dcterms:W3CDTF">2026-07-28T05:39:06Z</dcterms:modified>
  <cp:category/>
</cp:coreProperties>
</file>