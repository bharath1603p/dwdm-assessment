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1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2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3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4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1E2761"/>
                </a:solidFill>
                <a:latin typeface="Calibri"/>
              </a:rPr>
              <a:t>Evaluation Metrics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 (%)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Accuracy</c:v>
                  </c:pt>
                  <c:pt idx="1">
                    <c:v>Precision</c:v>
                  </c:pt>
                  <c:pt idx="2">
                    <c:v>Recall</c:v>
                  </c:pt>
                  <c:pt idx="3">
                    <c:v>F1-Score</c:v>
                  </c:pt>
                  <c:pt idx="4">
                    <c:v>ROC-AUC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85.63</c:v>
                </c:pt>
                <c:pt idx="1">
                  <c:v>83.1</c:v>
                </c:pt>
                <c:pt idx="2">
                  <c:v>78.4</c:v>
                </c:pt>
                <c:pt idx="3">
                  <c:v>80.7</c:v>
                </c:pt>
                <c:pt idx="4">
                  <c:v>92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1F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B1F3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1E2761"/>
                </a:solidFill>
                <a:latin typeface="Calibri"/>
              </a:rPr>
              <a:t>ROC Curve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Random Forest (AUC = 0.92)</c:v>
                </c:pt>
              </c:strCache>
            </c:strRef>
          </c:tx>
          <c:spPr>
            <a:solidFill>
              <a:srgbClr val="E8604C"/>
            </a:solidFill>
            <a:ln w="31750" cap="flat">
              <a:solidFill>
                <a:srgbClr val="E8604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8604C"/>
              </a:solidFill>
              <a:ln w="9525" cap="flat">
                <a:solidFill>
                  <a:srgbClr val="E8604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0.0</c:v>
                  </c:pt>
                  <c:pt idx="1">
                    <c:v>0.1</c:v>
                  </c:pt>
                  <c:pt idx="2">
                    <c:v>0.2</c:v>
                  </c:pt>
                  <c:pt idx="3">
                    <c:v>0.3</c:v>
                  </c:pt>
                  <c:pt idx="4">
                    <c:v>0.4</c:v>
                  </c:pt>
                  <c:pt idx="5">
                    <c:v>0.5</c:v>
                  </c:pt>
                  <c:pt idx="6">
                    <c:v>0.6</c:v>
                  </c:pt>
                  <c:pt idx="7">
                    <c:v>0.7</c:v>
                  </c:pt>
                  <c:pt idx="8">
                    <c:v>0.8</c:v>
                  </c:pt>
                  <c:pt idx="9">
                    <c:v>0.9</c:v>
                  </c:pt>
                  <c:pt idx="10">
                    <c:v>1.0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</c:v>
                </c:pt>
                <c:pt idx="1">
                  <c:v>0.42</c:v>
                </c:pt>
                <c:pt idx="2">
                  <c:v>0.6</c:v>
                </c:pt>
                <c:pt idx="3">
                  <c:v>0.72</c:v>
                </c:pt>
                <c:pt idx="4">
                  <c:v>0.8</c:v>
                </c:pt>
                <c:pt idx="5">
                  <c:v>0.86</c:v>
                </c:pt>
                <c:pt idx="6">
                  <c:v>0.9</c:v>
                </c:pt>
                <c:pt idx="7">
                  <c:v>0.94</c:v>
                </c:pt>
                <c:pt idx="8">
                  <c:v>0.97</c:v>
                </c:pt>
                <c:pt idx="9">
                  <c:v>0.99</c:v>
                </c:pt>
                <c:pt idx="10">
                  <c:v>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Random Guess</c:v>
                </c:pt>
              </c:strCache>
            </c:strRef>
          </c:tx>
          <c:spPr>
            <a:solidFill>
              <a:srgbClr val="C4CBD8"/>
            </a:solidFill>
            <a:ln w="31750" cap="flat">
              <a:solidFill>
                <a:srgbClr val="C4CBD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C4CBD8"/>
              </a:solidFill>
              <a:ln w="9525" cap="flat">
                <a:solidFill>
                  <a:srgbClr val="C4CBD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0.0</c:v>
                  </c:pt>
                  <c:pt idx="1">
                    <c:v>0.1</c:v>
                  </c:pt>
                  <c:pt idx="2">
                    <c:v>0.2</c:v>
                  </c:pt>
                  <c:pt idx="3">
                    <c:v>0.3</c:v>
                  </c:pt>
                  <c:pt idx="4">
                    <c:v>0.4</c:v>
                  </c:pt>
                  <c:pt idx="5">
                    <c:v>0.5</c:v>
                  </c:pt>
                  <c:pt idx="6">
                    <c:v>0.6</c:v>
                  </c:pt>
                  <c:pt idx="7">
                    <c:v>0.7</c:v>
                  </c:pt>
                  <c:pt idx="8">
                    <c:v>0.8</c:v>
                  </c:pt>
                  <c:pt idx="9">
                    <c:v>0.9</c:v>
                  </c:pt>
                  <c:pt idx="10">
                    <c:v>1.0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B7280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6B7280"/>
                    </a:solidFill>
                    <a:latin typeface="Arial"/>
                  </a:rPr>
                  <a:t>False Positive Rate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B1F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B7280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6B7280"/>
                    </a:solidFill>
                    <a:latin typeface="Arial"/>
                  </a:rPr>
                  <a:t>True Positive Rate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B1F3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1B1F3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|SHAP value|</c:v>
                </c:pt>
              </c:strCache>
            </c:strRef>
          </c:tx>
          <c:spPr>
            <a:solidFill>
              <a:srgbClr val="E8604C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Internet Service</c:v>
                  </c:pt>
                  <c:pt idx="1">
                    <c:v>Payment Method</c:v>
                  </c:pt>
                  <c:pt idx="2">
                    <c:v>Contract Type</c:v>
                  </c:pt>
                  <c:pt idx="3">
                    <c:v>Technical Tickets</c:v>
                  </c:pt>
                  <c:pt idx="4">
                    <c:v>Tenure</c:v>
                  </c:pt>
                  <c:pt idx="5">
                    <c:v>Monthly Charges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0.06</c:v>
                </c:pt>
                <c:pt idx="1">
                  <c:v>0.08</c:v>
                </c:pt>
                <c:pt idx="2">
                  <c:v>0.14</c:v>
                </c:pt>
                <c:pt idx="3">
                  <c:v>0.17</c:v>
                </c:pt>
                <c:pt idx="4">
                  <c:v>0.22</c:v>
                </c:pt>
                <c:pt idx="5">
                  <c:v>0.27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1F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B1F3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9FB8E8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Logistic
Regression</c:v>
                  </c:pt>
                  <c:pt idx="1">
                    <c:v>Decision
Tree</c:v>
                  </c:pt>
                  <c:pt idx="2">
                    <c:v>KNN</c:v>
                  </c:pt>
                  <c:pt idx="3">
                    <c:v>SVM</c:v>
                  </c:pt>
                  <c:pt idx="4">
                    <c:v>Random
Forest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79.2</c:v>
                </c:pt>
                <c:pt idx="1">
                  <c:v>78.1</c:v>
                </c:pt>
                <c:pt idx="2">
                  <c:v>76.4</c:v>
                </c:pt>
                <c:pt idx="3">
                  <c:v>80.5</c:v>
                </c:pt>
                <c:pt idx="4">
                  <c:v>85.63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ROC-AUC (×100)</c:v>
                </c:pt>
              </c:strCache>
            </c:strRef>
          </c:tx>
          <c:spPr>
            <a:solidFill>
              <a:srgbClr val="E8604C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Logistic
Regression</c:v>
                  </c:pt>
                  <c:pt idx="1">
                    <c:v>Decision
Tree</c:v>
                  </c:pt>
                  <c:pt idx="2">
                    <c:v>KNN</c:v>
                  </c:pt>
                  <c:pt idx="3">
                    <c:v>SVM</c:v>
                  </c:pt>
                  <c:pt idx="4">
                    <c:v>Random
Forest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82</c:v>
                </c:pt>
                <c:pt idx="1">
                  <c:v>76</c:v>
                </c:pt>
                <c:pt idx="2">
                  <c:v>74.5</c:v>
                </c:pt>
                <c:pt idx="3">
                  <c:v>83</c:v>
                </c:pt>
                <c:pt idx="4">
                  <c:v>92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B1F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B1F3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B1F3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8869680" y="-2011680"/>
            <a:ext cx="5486400" cy="54864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4" name="Shape 2"/>
          <p:cNvSpPr/>
          <p:nvPr/>
        </p:nvSpPr>
        <p:spPr>
          <a:xfrm>
            <a:off x="-2194560" y="4206240"/>
            <a:ext cx="4572000" cy="45720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 •  EXPLAINABLE AI  •  CUSTOMER ANALYTICS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828800"/>
            <a:ext cx="9875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AI-Powered User Churn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Prediction System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352044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Explainable Machine Learning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822960" y="4160520"/>
            <a:ext cx="896112" cy="402336"/>
          </a:xfrm>
          <a:prstGeom prst="roundRect">
            <a:avLst>
              <a:gd name="adj" fmla="val 50000"/>
            </a:avLst>
          </a:prstGeom>
          <a:solidFill>
            <a:srgbClr val="141B4D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160520"/>
            <a:ext cx="896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883664" y="4160520"/>
            <a:ext cx="1568196" cy="402336"/>
          </a:xfrm>
          <a:prstGeom prst="roundRect">
            <a:avLst>
              <a:gd name="adj" fmla="val 50000"/>
            </a:avLst>
          </a:prstGeom>
          <a:solidFill>
            <a:srgbClr val="141B4D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83664" y="4160520"/>
            <a:ext cx="15681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16452" y="4160520"/>
            <a:ext cx="704088" cy="402336"/>
          </a:xfrm>
          <a:prstGeom prst="roundRect">
            <a:avLst>
              <a:gd name="adj" fmla="val 50000"/>
            </a:avLst>
          </a:prstGeom>
          <a:solidFill>
            <a:srgbClr val="141B4D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16452" y="4160520"/>
            <a:ext cx="7040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485132" y="4160520"/>
            <a:ext cx="1184148" cy="402336"/>
          </a:xfrm>
          <a:prstGeom prst="roundRect">
            <a:avLst>
              <a:gd name="adj" fmla="val 50000"/>
            </a:avLst>
          </a:prstGeom>
          <a:solidFill>
            <a:srgbClr val="141B4D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85132" y="4160520"/>
            <a:ext cx="11841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960" y="5074920"/>
            <a:ext cx="384048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5212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548640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1 Name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2 Name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3 Name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120640" y="5212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120640" y="54864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 and Engineering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88720" y="329184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64008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is the process where customers stop using a company's services.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churn early helps organizations identify customers who may leave.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techniques can analyze customer behavior to forecast future churn.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develops an AI-based churn prediction system with explainable insights, so business teams understand not just ‘who’ but ‘why’.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7315200" y="1554480"/>
            <a:ext cx="4434840" cy="4480560"/>
          </a:xfrm>
          <a:prstGeom prst="roundRect">
            <a:avLst>
              <a:gd name="adj" fmla="val 2474"/>
            </a:avLst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9139428" y="194310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9139428" y="19431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</a:t>
            </a:r>
            <a:endParaRPr lang="en-US" sz="2210" dirty="0"/>
          </a:p>
        </p:txBody>
      </p:sp>
      <p:sp>
        <p:nvSpPr>
          <p:cNvPr id="9" name="Text 7"/>
          <p:cNvSpPr/>
          <p:nvPr/>
        </p:nvSpPr>
        <p:spPr>
          <a:xfrm>
            <a:off x="7589520" y="276148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Customer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345168" y="3200400"/>
            <a:ext cx="365760" cy="384048"/>
          </a:xfrm>
          <a:prstGeom prst="downArrow">
            <a:avLst/>
          </a:prstGeom>
          <a:solidFill>
            <a:srgbClr val="CADCFC"/>
          </a:solidFill>
          <a:ln/>
        </p:spPr>
      </p:sp>
      <p:sp>
        <p:nvSpPr>
          <p:cNvPr id="11" name="Text 9"/>
          <p:cNvSpPr/>
          <p:nvPr/>
        </p:nvSpPr>
        <p:spPr>
          <a:xfrm>
            <a:off x="7589520" y="367588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Behavior Analysis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345168" y="4041648"/>
            <a:ext cx="365760" cy="384048"/>
          </a:xfrm>
          <a:prstGeom prst="downArrow">
            <a:avLst/>
          </a:prstGeom>
          <a:solidFill>
            <a:srgbClr val="CADCFC"/>
          </a:solidFill>
          <a:ln/>
        </p:spPr>
      </p:sp>
      <p:sp>
        <p:nvSpPr>
          <p:cNvPr id="13" name="Shape 11"/>
          <p:cNvSpPr/>
          <p:nvPr/>
        </p:nvSpPr>
        <p:spPr>
          <a:xfrm>
            <a:off x="9139428" y="4503420"/>
            <a:ext cx="777240" cy="777240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14" name="Text 12"/>
          <p:cNvSpPr/>
          <p:nvPr/>
        </p:nvSpPr>
        <p:spPr>
          <a:xfrm>
            <a:off x="9139428" y="45034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2210" dirty="0"/>
          </a:p>
        </p:txBody>
      </p:sp>
      <p:sp>
        <p:nvSpPr>
          <p:cNvPr id="15" name="Text 13"/>
          <p:cNvSpPr/>
          <p:nvPr/>
        </p:nvSpPr>
        <p:spPr>
          <a:xfrm>
            <a:off x="7589520" y="532180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Risk Identified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User Churn Prediction System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457432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88720" y="329184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11274552" cy="1005840"/>
          </a:xfrm>
          <a:prstGeom prst="roundRect">
            <a:avLst>
              <a:gd name="adj" fmla="val 9091"/>
            </a:avLst>
          </a:prstGeom>
          <a:solidFill>
            <a:srgbClr val="FDECEA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55448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Businesses face direct revenue loss when customers churn, and traditional rule-based approaches cannot accurately identify at-risk customers in time to act.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288036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SMART PREDICTION SYSTEM IS REQUIRED TO: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291840"/>
            <a:ext cx="361188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943100" y="34747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194310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1820" dirty="0"/>
          </a:p>
        </p:txBody>
      </p:sp>
      <p:sp>
        <p:nvSpPr>
          <p:cNvPr id="11" name="Text 9"/>
          <p:cNvSpPr/>
          <p:nvPr/>
        </p:nvSpPr>
        <p:spPr>
          <a:xfrm>
            <a:off x="640080" y="425196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 Churn Probability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85800" y="484632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the likelihood each customer will leave, as a percentage score.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88536" y="3291840"/>
            <a:ext cx="361188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774436" y="34747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5774436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1820" dirty="0"/>
          </a:p>
        </p:txBody>
      </p:sp>
      <p:sp>
        <p:nvSpPr>
          <p:cNvPr id="16" name="Text 14"/>
          <p:cNvSpPr/>
          <p:nvPr/>
        </p:nvSpPr>
        <p:spPr>
          <a:xfrm>
            <a:off x="4471416" y="425196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Identify High-Risk Customers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517136" y="484632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customers most likely to churn so teams can prioritize outreach.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119872" y="3291840"/>
            <a:ext cx="361188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605772" y="34747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9605772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</a:t>
            </a:r>
            <a:endParaRPr lang="en-US" sz="1820" dirty="0"/>
          </a:p>
        </p:txBody>
      </p:sp>
      <p:sp>
        <p:nvSpPr>
          <p:cNvPr id="21" name="Text 19"/>
          <p:cNvSpPr/>
          <p:nvPr/>
        </p:nvSpPr>
        <p:spPr>
          <a:xfrm>
            <a:off x="8302752" y="425196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Provide Retention Recommendations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348472" y="484632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 concrete actions to retain each at-risk customer.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User Churn Prediction System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457432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88720" y="329184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53949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2668" y="20574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72668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30" dirty="0"/>
          </a:p>
        </p:txBody>
      </p:sp>
      <p:sp>
        <p:nvSpPr>
          <p:cNvPr id="8" name="Text 6"/>
          <p:cNvSpPr/>
          <p:nvPr/>
        </p:nvSpPr>
        <p:spPr>
          <a:xfrm>
            <a:off x="1417320" y="1737360"/>
            <a:ext cx="4206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Machine Learning model for customer churn prediction.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9360" y="1600200"/>
            <a:ext cx="53949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624828" y="20574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6624828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30" dirty="0"/>
          </a:p>
        </p:txBody>
      </p:sp>
      <p:sp>
        <p:nvSpPr>
          <p:cNvPr id="12" name="Text 10"/>
          <p:cNvSpPr/>
          <p:nvPr/>
        </p:nvSpPr>
        <p:spPr>
          <a:xfrm>
            <a:off x="7269480" y="1737360"/>
            <a:ext cx="4206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customer service and billing patterns.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337560"/>
            <a:ext cx="53949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72668" y="37947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772668" y="3794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30" dirty="0"/>
          </a:p>
        </p:txBody>
      </p:sp>
      <p:sp>
        <p:nvSpPr>
          <p:cNvPr id="16" name="Text 14"/>
          <p:cNvSpPr/>
          <p:nvPr/>
        </p:nvSpPr>
        <p:spPr>
          <a:xfrm>
            <a:off x="1417320" y="3474720"/>
            <a:ext cx="4206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churn probability as a percentage score.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309360" y="3337560"/>
            <a:ext cx="53949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624828" y="37947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6624828" y="3794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30" dirty="0"/>
          </a:p>
        </p:txBody>
      </p:sp>
      <p:sp>
        <p:nvSpPr>
          <p:cNvPr id="20" name="Text 18"/>
          <p:cNvSpPr/>
          <p:nvPr/>
        </p:nvSpPr>
        <p:spPr>
          <a:xfrm>
            <a:off x="7269480" y="3474720"/>
            <a:ext cx="4206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customers into Low / Medium / High risk categories.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5074920"/>
            <a:ext cx="53949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72668" y="55321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772668" y="5532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30" dirty="0"/>
          </a:p>
        </p:txBody>
      </p:sp>
      <p:sp>
        <p:nvSpPr>
          <p:cNvPr id="24" name="Text 22"/>
          <p:cNvSpPr/>
          <p:nvPr/>
        </p:nvSpPr>
        <p:spPr>
          <a:xfrm>
            <a:off x="1417320" y="5212080"/>
            <a:ext cx="4206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transparent AI explanations using SHAP.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309360" y="5074920"/>
            <a:ext cx="53949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624828" y="55321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7" name="Text 25"/>
          <p:cNvSpPr/>
          <p:nvPr/>
        </p:nvSpPr>
        <p:spPr>
          <a:xfrm>
            <a:off x="6624828" y="5532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30" dirty="0"/>
          </a:p>
        </p:txBody>
      </p:sp>
      <p:sp>
        <p:nvSpPr>
          <p:cNvPr id="28" name="Text 26"/>
          <p:cNvSpPr/>
          <p:nvPr/>
        </p:nvSpPr>
        <p:spPr>
          <a:xfrm>
            <a:off x="7269480" y="5212080"/>
            <a:ext cx="4206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interactive, real-time prediction dashboard.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User Churn Prediction System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457432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88720" y="329184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Description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88720" y="8412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Dataset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2103120" cy="137160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6916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7,043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23774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Records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43200" y="1600200"/>
            <a:ext cx="2103120" cy="137160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0" y="16916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834640" y="23774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Features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0" y="1600200"/>
            <a:ext cx="2103120" cy="137160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0" y="16916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5120640" y="23774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Classes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(Churn: Yes / No)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315200" y="1600200"/>
            <a:ext cx="4416552" cy="1371600"/>
          </a:xfrm>
          <a:prstGeom prst="roundRect">
            <a:avLst>
              <a:gd name="adj" fmla="val 6667"/>
            </a:avLst>
          </a:prstGeom>
          <a:solidFill>
            <a:srgbClr val="EAF1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0" y="17373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498080" y="201168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— Yes / No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(~26.5% of customers churn in this dataset)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324612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FEATURE CATEGORIES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3657600"/>
            <a:ext cx="36576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6576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demographics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297680" y="3657600"/>
            <a:ext cx="36576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34840" y="36576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information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138160" y="3657600"/>
            <a:ext cx="36576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75320" y="36576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details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4343400"/>
            <a:ext cx="36576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43434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information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297680" y="4343400"/>
            <a:ext cx="36576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34840" y="43434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&amp; total charges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138160" y="4343400"/>
            <a:ext cx="36576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75320" y="43434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ticket details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" y="52578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Format:  Excel / CSV dataset  •  Trained model persisted as a Pickle (.pkl) file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User Churn Prediction System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457432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88720" y="329184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88720" y="8412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workflow, from raw data to explainable prediction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26060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85216" y="188366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585216" y="18836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226771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063240" y="2167128"/>
            <a:ext cx="219456" cy="182880"/>
          </a:xfrm>
          <a:prstGeom prst="rightArrow">
            <a:avLst/>
          </a:prstGeom>
          <a:solidFill>
            <a:srgbClr val="1E2761"/>
          </a:solidFill>
          <a:ln/>
        </p:spPr>
      </p:sp>
      <p:sp>
        <p:nvSpPr>
          <p:cNvPr id="11" name="Shape 9"/>
          <p:cNvSpPr/>
          <p:nvPr/>
        </p:nvSpPr>
        <p:spPr>
          <a:xfrm>
            <a:off x="3282696" y="1737360"/>
            <a:ext cx="26060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10712" y="1883664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3410712" y="18836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19856" y="226771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Analysis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888736" y="2167128"/>
            <a:ext cx="219456" cy="182880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16" name="Shape 14"/>
          <p:cNvSpPr/>
          <p:nvPr/>
        </p:nvSpPr>
        <p:spPr>
          <a:xfrm>
            <a:off x="6108192" y="1737360"/>
            <a:ext cx="26060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36208" y="1883664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6236208" y="18836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45352" y="226771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714232" y="2167128"/>
            <a:ext cx="219456" cy="182880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21" name="Shape 19"/>
          <p:cNvSpPr/>
          <p:nvPr/>
        </p:nvSpPr>
        <p:spPr>
          <a:xfrm>
            <a:off x="8933688" y="1737360"/>
            <a:ext cx="26060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061704" y="1883664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9061704" y="18836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070848" y="226771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1731752" y="2788920"/>
            <a:ext cx="0" cy="521208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760220" y="3310128"/>
            <a:ext cx="9971532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760220" y="3310128"/>
            <a:ext cx="0" cy="256032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457200" y="3566160"/>
            <a:ext cx="26060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85216" y="371246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585216" y="37124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94360" y="409651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063240" y="3995928"/>
            <a:ext cx="219456" cy="182880"/>
          </a:xfrm>
          <a:prstGeom prst="rightArrow">
            <a:avLst/>
          </a:prstGeom>
          <a:solidFill>
            <a:srgbClr val="1E2761"/>
          </a:solidFill>
          <a:ln/>
        </p:spPr>
      </p:sp>
      <p:sp>
        <p:nvSpPr>
          <p:cNvPr id="33" name="Shape 31"/>
          <p:cNvSpPr/>
          <p:nvPr/>
        </p:nvSpPr>
        <p:spPr>
          <a:xfrm>
            <a:off x="3282696" y="3566160"/>
            <a:ext cx="26060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9050">
            <a:solidFill>
              <a:srgbClr val="E8604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410712" y="3712464"/>
            <a:ext cx="384048" cy="38404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35" name="Text 33"/>
          <p:cNvSpPr/>
          <p:nvPr/>
        </p:nvSpPr>
        <p:spPr>
          <a:xfrm>
            <a:off x="3410712" y="37124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3419856" y="409651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888736" y="3995928"/>
            <a:ext cx="219456" cy="182880"/>
          </a:xfrm>
          <a:prstGeom prst="rightArrow">
            <a:avLst/>
          </a:prstGeom>
          <a:solidFill>
            <a:srgbClr val="E8604C"/>
          </a:solidFill>
          <a:ln/>
        </p:spPr>
      </p:sp>
      <p:sp>
        <p:nvSpPr>
          <p:cNvPr id="38" name="Shape 36"/>
          <p:cNvSpPr/>
          <p:nvPr/>
        </p:nvSpPr>
        <p:spPr>
          <a:xfrm>
            <a:off x="6108192" y="3566160"/>
            <a:ext cx="26060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236208" y="3712464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0" name="Text 38"/>
          <p:cNvSpPr/>
          <p:nvPr/>
        </p:nvSpPr>
        <p:spPr>
          <a:xfrm>
            <a:off x="6236208" y="37124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245352" y="409651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8714232" y="3995928"/>
            <a:ext cx="219456" cy="182880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43" name="Shape 41"/>
          <p:cNvSpPr/>
          <p:nvPr/>
        </p:nvSpPr>
        <p:spPr>
          <a:xfrm>
            <a:off x="8933688" y="3566160"/>
            <a:ext cx="26060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5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9061704" y="371246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5" name="Text 43"/>
          <p:cNvSpPr/>
          <p:nvPr/>
        </p:nvSpPr>
        <p:spPr>
          <a:xfrm>
            <a:off x="9061704" y="37124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9070848" y="409651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457200" y="5074920"/>
            <a:ext cx="11274552" cy="1051560"/>
          </a:xfrm>
          <a:prstGeom prst="roundRect">
            <a:avLst>
              <a:gd name="adj" fmla="val 8696"/>
            </a:avLst>
          </a:prstGeom>
          <a:solidFill>
            <a:srgbClr val="1E2761"/>
          </a:solidFill>
          <a:ln/>
        </p:spPr>
      </p:sp>
      <p:sp>
        <p:nvSpPr>
          <p:cNvPr id="48" name="Text 46"/>
          <p:cNvSpPr/>
          <p:nvPr/>
        </p:nvSpPr>
        <p:spPr>
          <a:xfrm>
            <a:off x="731520" y="5193792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principle: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2743200" y="5193792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customer data flows through cleaning and feature engineering, is scored by the Random Forest model, then explained with SHAP and served through an interactive Streamlit dashboard — turning a black-box prediction into an actionable, transparent business decision.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User Churn Prediction System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1457432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88720" y="329184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Collection &amp; Dataset Analysis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88720" y="8412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raw data before any transformation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WORKFLOW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148840"/>
            <a:ext cx="2023872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322832" y="2002536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1322832" y="20025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12064" y="2276856"/>
            <a:ext cx="19141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Dataset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481072" y="2546604"/>
            <a:ext cx="256032" cy="164592"/>
          </a:xfrm>
          <a:prstGeom prst="rightArrow">
            <a:avLst/>
          </a:prstGeom>
          <a:solidFill>
            <a:srgbClr val="1E2761"/>
          </a:solidFill>
          <a:ln/>
        </p:spPr>
      </p:sp>
      <p:sp>
        <p:nvSpPr>
          <p:cNvPr id="12" name="Shape 10"/>
          <p:cNvSpPr/>
          <p:nvPr/>
        </p:nvSpPr>
        <p:spPr>
          <a:xfrm>
            <a:off x="2737104" y="2148840"/>
            <a:ext cx="2023872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02736" y="2002536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3602736" y="20025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791968" y="2276856"/>
            <a:ext cx="19141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Data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60976" y="2546604"/>
            <a:ext cx="256032" cy="164592"/>
          </a:xfrm>
          <a:prstGeom prst="rightArrow">
            <a:avLst/>
          </a:prstGeom>
          <a:solidFill>
            <a:srgbClr val="1E2761"/>
          </a:solidFill>
          <a:ln/>
        </p:spPr>
      </p:sp>
      <p:sp>
        <p:nvSpPr>
          <p:cNvPr id="17" name="Shape 15"/>
          <p:cNvSpPr/>
          <p:nvPr/>
        </p:nvSpPr>
        <p:spPr>
          <a:xfrm>
            <a:off x="5017008" y="2148840"/>
            <a:ext cx="2023872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882640" y="2002536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5882640" y="20025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71872" y="2276856"/>
            <a:ext cx="19141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Patterns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342900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FUNCTION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3794760"/>
            <a:ext cx="6583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the customer churn dataset (7,043 records, 23 features) from Excel/CSV.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exploratory data analysis (EDA) to understand distributions, data types, and value ranges.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customer behavior patterns and visualize the churn vs. non-churn split.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315200" y="160020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/ ALGORITHM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315200" y="2011680"/>
            <a:ext cx="1060704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0" y="2011680"/>
            <a:ext cx="1060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315200" y="2523744"/>
            <a:ext cx="1060704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0" y="2523744"/>
            <a:ext cx="1060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315200" y="3035808"/>
            <a:ext cx="2066544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0" y="3035808"/>
            <a:ext cx="2066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7315200" y="3547872"/>
            <a:ext cx="146304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0" y="354787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315200" y="4197096"/>
            <a:ext cx="4416552" cy="2203704"/>
          </a:xfrm>
          <a:prstGeom prst="roundRect">
            <a:avLst>
              <a:gd name="adj" fmla="val 3320"/>
            </a:avLst>
          </a:prstGeom>
          <a:solidFill>
            <a:srgbClr val="EAF1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516368" y="4325112"/>
            <a:ext cx="4014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/ RESULT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7516368" y="4617720"/>
            <a:ext cx="4014216" cy="1655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structure fully profiled: 7,043 rows × 23 columns, no critical corruption. Churn distribution confirmed as imbalanced (~26.5% churn, ~73.5% retained), guiding later evaluation-metric choices.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User Churn Prediction System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457432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88720" y="329184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Preprocessing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88720" y="8412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raw, messy data into a clean, model-ready table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WORKFLOW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148840"/>
            <a:ext cx="2023872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322832" y="2002536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1322832" y="20025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12064" y="2276856"/>
            <a:ext cx="19141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Data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481072" y="2546604"/>
            <a:ext cx="256032" cy="164592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12" name="Shape 10"/>
          <p:cNvSpPr/>
          <p:nvPr/>
        </p:nvSpPr>
        <p:spPr>
          <a:xfrm>
            <a:off x="2737104" y="2148840"/>
            <a:ext cx="2023872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02736" y="2002536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3602736" y="20025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791968" y="2276856"/>
            <a:ext cx="19141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Missing Values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60976" y="2546604"/>
            <a:ext cx="256032" cy="164592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17" name="Shape 15"/>
          <p:cNvSpPr/>
          <p:nvPr/>
        </p:nvSpPr>
        <p:spPr>
          <a:xfrm>
            <a:off x="5017008" y="2148840"/>
            <a:ext cx="2023872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882640" y="2002536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5882640" y="20025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71872" y="2276856"/>
            <a:ext cx="19141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Features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342900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FUNCTION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3794760"/>
            <a:ext cx="6583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duplicate records and drop the non-predictive Customer ID column.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TotalCharges to a proper numeric type and impute/handle missing values.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Label-encode categorical fields (contract type, payment method, internet service, etc.).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315200" y="160020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/ ALGORITHM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315200" y="2011680"/>
            <a:ext cx="1060704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0" y="2011680"/>
            <a:ext cx="1060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315200" y="2523744"/>
            <a:ext cx="1060704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0" y="2523744"/>
            <a:ext cx="1060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315200" y="3035808"/>
            <a:ext cx="96012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0" y="3035808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7315200" y="3547872"/>
            <a:ext cx="3172968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0" y="3547872"/>
            <a:ext cx="3172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(LabelEncoder)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315200" y="4197096"/>
            <a:ext cx="4416552" cy="2203704"/>
          </a:xfrm>
          <a:prstGeom prst="roundRect">
            <a:avLst>
              <a:gd name="adj" fmla="val 3320"/>
            </a:avLst>
          </a:prstGeom>
          <a:solidFill>
            <a:srgbClr val="EAF1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516368" y="4325112"/>
            <a:ext cx="4014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/ RESULT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7516368" y="4617720"/>
            <a:ext cx="4014216" cy="1655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 cleaned, numerically encoded dataset with 0% missing values — ready for feature engineering and model training.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User Churn Prediction System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457432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88720" y="329184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88720" y="8412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and prepare the signals that matter most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WORKFLOW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148840"/>
            <a:ext cx="2023872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322832" y="2002536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1322832" y="20025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12064" y="2276856"/>
            <a:ext cx="19141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Features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481072" y="2546604"/>
            <a:ext cx="256032" cy="164592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12" name="Shape 10"/>
          <p:cNvSpPr/>
          <p:nvPr/>
        </p:nvSpPr>
        <p:spPr>
          <a:xfrm>
            <a:off x="2737104" y="2148840"/>
            <a:ext cx="2023872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02736" y="2002536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3602736" y="20025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791968" y="2276856"/>
            <a:ext cx="19141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Data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60976" y="2546604"/>
            <a:ext cx="256032" cy="164592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17" name="Shape 15"/>
          <p:cNvSpPr/>
          <p:nvPr/>
        </p:nvSpPr>
        <p:spPr>
          <a:xfrm>
            <a:off x="5017008" y="2148840"/>
            <a:ext cx="2023872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882640" y="2002536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5882640" y="20025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71872" y="2276856"/>
            <a:ext cx="19141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Train/Test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342900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FUNCTION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3794760"/>
            <a:ext cx="6583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the most relevant predictive features from demographics, services, billing, and support history.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data transformations (scaling/formatting) so all features are model-ready.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the dataset into training and testing sets for unbiased evaluation.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315200" y="160020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/ ALGORITHM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315200" y="2011680"/>
            <a:ext cx="1664208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0" y="2011680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315200" y="2523744"/>
            <a:ext cx="1060704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0" y="2523744"/>
            <a:ext cx="1060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315200" y="3931920"/>
            <a:ext cx="4416552" cy="2468880"/>
          </a:xfrm>
          <a:prstGeom prst="roundRect">
            <a:avLst>
              <a:gd name="adj" fmla="val 2963"/>
            </a:avLst>
          </a:prstGeom>
          <a:solidFill>
            <a:srgbClr val="EAF1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16368" y="4059936"/>
            <a:ext cx="4014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/ RESULT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7516368" y="4352544"/>
            <a:ext cx="401421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optimized feature set with an 80/20 train–test split, balancing model learning capacity against reliable, held-out evaluation.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User Churn Prediction System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457432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88720" y="329184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 Model Development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88720" y="8412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the core predictive engine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WORKFLOW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148840"/>
            <a:ext cx="2023872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322832" y="2002536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1322832" y="20025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12064" y="2276856"/>
            <a:ext cx="19141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Model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481072" y="2546604"/>
            <a:ext cx="256032" cy="164592"/>
          </a:xfrm>
          <a:prstGeom prst="rightArrow">
            <a:avLst/>
          </a:prstGeom>
          <a:solidFill>
            <a:srgbClr val="1E2761"/>
          </a:solidFill>
          <a:ln/>
        </p:spPr>
      </p:sp>
      <p:sp>
        <p:nvSpPr>
          <p:cNvPr id="12" name="Shape 10"/>
          <p:cNvSpPr/>
          <p:nvPr/>
        </p:nvSpPr>
        <p:spPr>
          <a:xfrm>
            <a:off x="2737104" y="2148840"/>
            <a:ext cx="2023872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02736" y="2002536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3602736" y="20025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791968" y="2276856"/>
            <a:ext cx="19141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Parameters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60976" y="2546604"/>
            <a:ext cx="256032" cy="164592"/>
          </a:xfrm>
          <a:prstGeom prst="rightArrow">
            <a:avLst/>
          </a:prstGeom>
          <a:solidFill>
            <a:srgbClr val="1E2761"/>
          </a:solidFill>
          <a:ln/>
        </p:spPr>
      </p:sp>
      <p:sp>
        <p:nvSpPr>
          <p:cNvPr id="17" name="Shape 15"/>
          <p:cNvSpPr/>
          <p:nvPr/>
        </p:nvSpPr>
        <p:spPr>
          <a:xfrm>
            <a:off x="5017008" y="2148840"/>
            <a:ext cx="2023872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882640" y="2002536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5882640" y="20025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71872" y="2276856"/>
            <a:ext cx="19141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&amp; Validate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342900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FUNCTION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3794760"/>
            <a:ext cx="6583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Random Forest Classifier, an ensemble of decision trees, on the prepared training data.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hyperparameters (tree count, depth) to balance accuracy and generalization.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the trained model against the held-out test set and persist it as a Pickle file.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315200" y="160020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/ ALGORITHM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315200" y="2011680"/>
            <a:ext cx="4178808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0" y="2011680"/>
            <a:ext cx="4178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(RandomForestClassifier)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315200" y="2523744"/>
            <a:ext cx="1060704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0" y="2523744"/>
            <a:ext cx="1060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Pickle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315200" y="3931920"/>
            <a:ext cx="4416552" cy="2468880"/>
          </a:xfrm>
          <a:prstGeom prst="roundRect">
            <a:avLst>
              <a:gd name="adj" fmla="val 2963"/>
            </a:avLst>
          </a:prstGeom>
          <a:solidFill>
            <a:srgbClr val="EAF1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16368" y="4059936"/>
            <a:ext cx="4014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/ RESULT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7516368" y="4352544"/>
            <a:ext cx="401421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trained, saved model achieving 85.63% accuracy and a 0.92 ROC-AUC score — reliably separating churners from retained customers.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User Churn Prediction System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457432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88720" y="329184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Explainable AI &amp; Risk Analysis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88720" y="8412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 black-box score into a transparent, actionable insight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WORKFLOW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148840"/>
            <a:ext cx="2023872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9050">
            <a:solidFill>
              <a:srgbClr val="E8604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322832" y="2002536"/>
            <a:ext cx="292608" cy="29260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9" name="Text 7"/>
          <p:cNvSpPr/>
          <p:nvPr/>
        </p:nvSpPr>
        <p:spPr>
          <a:xfrm>
            <a:off x="1322832" y="20025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12064" y="2276856"/>
            <a:ext cx="19141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SHAP Values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481072" y="2546604"/>
            <a:ext cx="256032" cy="164592"/>
          </a:xfrm>
          <a:prstGeom prst="rightArrow">
            <a:avLst/>
          </a:prstGeom>
          <a:solidFill>
            <a:srgbClr val="E8604C"/>
          </a:solidFill>
          <a:ln/>
        </p:spPr>
      </p:sp>
      <p:sp>
        <p:nvSpPr>
          <p:cNvPr id="12" name="Shape 10"/>
          <p:cNvSpPr/>
          <p:nvPr/>
        </p:nvSpPr>
        <p:spPr>
          <a:xfrm>
            <a:off x="2737104" y="2148840"/>
            <a:ext cx="2023872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9050">
            <a:solidFill>
              <a:srgbClr val="E8604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02736" y="2002536"/>
            <a:ext cx="292608" cy="29260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14" name="Text 12"/>
          <p:cNvSpPr/>
          <p:nvPr/>
        </p:nvSpPr>
        <p:spPr>
          <a:xfrm>
            <a:off x="3602736" y="20025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791968" y="2276856"/>
            <a:ext cx="19141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Impact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60976" y="2546604"/>
            <a:ext cx="256032" cy="164592"/>
          </a:xfrm>
          <a:prstGeom prst="rightArrow">
            <a:avLst/>
          </a:prstGeom>
          <a:solidFill>
            <a:srgbClr val="E8604C"/>
          </a:solidFill>
          <a:ln/>
        </p:spPr>
      </p:sp>
      <p:sp>
        <p:nvSpPr>
          <p:cNvPr id="17" name="Shape 15"/>
          <p:cNvSpPr/>
          <p:nvPr/>
        </p:nvSpPr>
        <p:spPr>
          <a:xfrm>
            <a:off x="5017008" y="2148840"/>
            <a:ext cx="2023872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9050">
            <a:solidFill>
              <a:srgbClr val="E8604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882640" y="2002536"/>
            <a:ext cx="292608" cy="29260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19" name="Text 17"/>
          <p:cNvSpPr/>
          <p:nvPr/>
        </p:nvSpPr>
        <p:spPr>
          <a:xfrm>
            <a:off x="5882640" y="20025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71872" y="2276856"/>
            <a:ext cx="19141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Risk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342900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FUNCTION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3794760"/>
            <a:ext cx="6583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SHAP (SHapley Additive exPlanations) to compute each feature's contribution to a prediction.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and visualize the top churn-driving factors per customer and overall.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each customer into Low / Medium / High risk tiers and generate retention suggestions.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315200" y="160020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/ ALGORITHM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315200" y="2011680"/>
            <a:ext cx="859536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5875">
            <a:solidFill>
              <a:srgbClr val="E8604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0" y="2011680"/>
            <a:ext cx="859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315200" y="2523744"/>
            <a:ext cx="146304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5875">
            <a:solidFill>
              <a:srgbClr val="E8604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0" y="252374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315200" y="3931920"/>
            <a:ext cx="4416552" cy="2468880"/>
          </a:xfrm>
          <a:prstGeom prst="roundRect">
            <a:avLst>
              <a:gd name="adj" fmla="val 2963"/>
            </a:avLst>
          </a:prstGeom>
          <a:solidFill>
            <a:srgbClr val="EAF1FF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16368" y="4059936"/>
            <a:ext cx="4014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/ RESULT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7516368" y="4352544"/>
            <a:ext cx="401421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Transparent, feature-level explanations. Top churn drivers identified: Monthly Charges, Tenure, Technical Tickets, and Contract Type.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User Churn Prediction System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457432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88720" y="329184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Deployment &amp; Visualization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88720" y="8412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the model in front of real business users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WORKFLOW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148840"/>
            <a:ext cx="2023872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322832" y="2002536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1322832" y="20025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12064" y="2276856"/>
            <a:ext cx="19141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Dashboard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481072" y="2546604"/>
            <a:ext cx="256032" cy="164592"/>
          </a:xfrm>
          <a:prstGeom prst="rightArrow">
            <a:avLst/>
          </a:prstGeom>
          <a:solidFill>
            <a:srgbClr val="1E2761"/>
          </a:solidFill>
          <a:ln/>
        </p:spPr>
      </p:sp>
      <p:sp>
        <p:nvSpPr>
          <p:cNvPr id="12" name="Shape 10"/>
          <p:cNvSpPr/>
          <p:nvPr/>
        </p:nvSpPr>
        <p:spPr>
          <a:xfrm>
            <a:off x="2737104" y="2148840"/>
            <a:ext cx="2023872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02736" y="2002536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3602736" y="20025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791968" y="2276856"/>
            <a:ext cx="19141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Model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60976" y="2546604"/>
            <a:ext cx="256032" cy="164592"/>
          </a:xfrm>
          <a:prstGeom prst="rightArrow">
            <a:avLst/>
          </a:prstGeom>
          <a:solidFill>
            <a:srgbClr val="1E2761"/>
          </a:solidFill>
          <a:ln/>
        </p:spPr>
      </p:sp>
      <p:sp>
        <p:nvSpPr>
          <p:cNvPr id="17" name="Shape 15"/>
          <p:cNvSpPr/>
          <p:nvPr/>
        </p:nvSpPr>
        <p:spPr>
          <a:xfrm>
            <a:off x="5017008" y="2148840"/>
            <a:ext cx="2023872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882640" y="2002536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5882640" y="20025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71872" y="2276856"/>
            <a:ext cx="19141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App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342900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FUNCTION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3794760"/>
            <a:ext cx="6583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 interactive Streamlit dashboard for analytics and single-customer predictions.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the trained Random Forest model and SHAP explainer behind simple input forms.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application for real-time, on-demand churn prediction and reporting.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315200" y="160020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/ ALGORITHM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315200" y="2011680"/>
            <a:ext cx="1362456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0" y="2011680"/>
            <a:ext cx="1362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315200" y="2523744"/>
            <a:ext cx="1060704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0" y="2523744"/>
            <a:ext cx="1060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315200" y="3931920"/>
            <a:ext cx="4416552" cy="2468880"/>
          </a:xfrm>
          <a:prstGeom prst="roundRect">
            <a:avLst>
              <a:gd name="adj" fmla="val 2963"/>
            </a:avLst>
          </a:prstGeom>
          <a:solidFill>
            <a:srgbClr val="EAF1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16368" y="4059936"/>
            <a:ext cx="4014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/ RESULT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7516368" y="4352544"/>
            <a:ext cx="401421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live, interactive web application where users input customer details and instantly receive a churn prediction, probability score, risk level, and explanation.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User Churn Prediction System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457432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88720" y="329184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Overall Output Is Achieved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88720" y="8412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single customer record to a complete, explained decision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3246120" cy="137160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6420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92024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profile: tenure, contract, monthly charges, services, support tickets, payment method…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840480" y="2084832"/>
            <a:ext cx="457200" cy="320040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10" name="Shape 8"/>
          <p:cNvSpPr/>
          <p:nvPr/>
        </p:nvSpPr>
        <p:spPr>
          <a:xfrm>
            <a:off x="4434840" y="1554480"/>
            <a:ext cx="32461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166420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17720" y="192024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→ feature engineering → Random Forest scoring → SHAP explanation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772400" y="2084832"/>
            <a:ext cx="457200" cy="320040"/>
          </a:xfrm>
          <a:prstGeom prst="rightArrow">
            <a:avLst/>
          </a:prstGeom>
          <a:solidFill>
            <a:srgbClr val="E8604C"/>
          </a:solidFill>
          <a:ln/>
        </p:spPr>
      </p:sp>
      <p:sp>
        <p:nvSpPr>
          <p:cNvPr id="14" name="Shape 12"/>
          <p:cNvSpPr/>
          <p:nvPr/>
        </p:nvSpPr>
        <p:spPr>
          <a:xfrm>
            <a:off x="8366760" y="1554480"/>
            <a:ext cx="3364992" cy="1371600"/>
          </a:xfrm>
          <a:prstGeom prst="roundRect">
            <a:avLst>
              <a:gd name="adj" fmla="val 6667"/>
            </a:avLst>
          </a:prstGeom>
          <a:solidFill>
            <a:srgbClr val="E8604C"/>
          </a:solidFill>
          <a:ln/>
        </p:spPr>
      </p:sp>
      <p:sp>
        <p:nvSpPr>
          <p:cNvPr id="15" name="Text 13"/>
          <p:cNvSpPr/>
          <p:nvPr/>
        </p:nvSpPr>
        <p:spPr>
          <a:xfrm>
            <a:off x="8549640" y="166420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549640" y="19202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(Stay/Churn) + probability % + risk level + retention recommendation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7200" y="324612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ASSEMBLY — WHAT EACH STAGE CONTRIBUTES TO THE FINAL OUTPUT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611880"/>
            <a:ext cx="1127455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1E2761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85800" y="3611880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Model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566160" y="3611880"/>
            <a:ext cx="7955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Computes the base churn probability score from the customer's encoded features.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7200" y="4343400"/>
            <a:ext cx="1127455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1E2761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85800" y="4343400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Explainer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566160" y="4343400"/>
            <a:ext cx="7955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 the score to individual features, ranking which factors pushed the prediction up or down.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57200" y="5074920"/>
            <a:ext cx="1127455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1E2761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85800" y="5074920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Classifier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566160" y="5074920"/>
            <a:ext cx="7955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the probability into a Low / Medium / High risk tier using threshold rules.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57200" y="5806440"/>
            <a:ext cx="1127455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1E2761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85800" y="5806440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Layer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566160" y="5806440"/>
            <a:ext cx="7955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Renders the prediction, probability, risk badge, and top factors as a readable result card.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User Churn Prediction System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457432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88720" y="329184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Evaluation — Performance Metrics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88720" y="8412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Classifier, evaluated on the held-out test set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554480"/>
          <a:ext cx="731520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8092440" y="160020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USED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092440" y="1965960"/>
            <a:ext cx="3639312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92440" y="1965960"/>
            <a:ext cx="3639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092440" y="2441448"/>
            <a:ext cx="3639312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092440" y="2441448"/>
            <a:ext cx="3639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8092440" y="2916936"/>
            <a:ext cx="3639312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092440" y="2916936"/>
            <a:ext cx="3639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8092440" y="3392424"/>
            <a:ext cx="3639312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092440" y="3392424"/>
            <a:ext cx="3639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8092440" y="3867912"/>
            <a:ext cx="3639312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092440" y="3867912"/>
            <a:ext cx="3639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8092440" y="4343400"/>
            <a:ext cx="3639312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92440" y="4343400"/>
            <a:ext cx="3639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Score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8092440" y="4956048"/>
            <a:ext cx="3639312" cy="1280160"/>
          </a:xfrm>
          <a:prstGeom prst="roundRect">
            <a:avLst>
              <a:gd name="adj" fmla="val 5714"/>
            </a:avLst>
          </a:prstGeom>
          <a:solidFill>
            <a:srgbClr val="EAF1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293608" y="5084064"/>
            <a:ext cx="3236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RESULT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8293608" y="5376672"/>
            <a:ext cx="32369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85.63% accuracy with a 0.92 ROC-AUC — the model reliably ranks churners above non-churners across the decision threshold.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457200" y="6172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*Precision, Recall and F1 are illustrative sample results for this evaluation run.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User Churn Prediction System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457432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88720" y="329184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Evaluation — Confusion Matrix &amp; ROC Curve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(TEST SET, ILLUSTRATIVE)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1554480" cy="566928"/>
          </a:xfrm>
          <a:prstGeom prst="rect">
            <a:avLst/>
          </a:prstGeom>
          <a:solidFill>
            <a:srgbClr val="1E27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96596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011680" y="1965960"/>
            <a:ext cx="1737360" cy="566928"/>
          </a:xfrm>
          <a:prstGeom prst="rect">
            <a:avLst/>
          </a:prstGeom>
          <a:solidFill>
            <a:srgbClr val="1E27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11680" y="196596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Predicted: Stay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749040" y="1965960"/>
            <a:ext cx="1737360" cy="566928"/>
          </a:xfrm>
          <a:prstGeom prst="rect">
            <a:avLst/>
          </a:prstGeom>
          <a:solidFill>
            <a:srgbClr val="1E27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49040" y="196596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Predicted: Churn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532888"/>
            <a:ext cx="1554480" cy="566928"/>
          </a:xfrm>
          <a:prstGeom prst="rect">
            <a:avLst/>
          </a:prstGeom>
          <a:solidFill>
            <a:srgbClr val="1E27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532888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Actual: Stay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011680" y="2532888"/>
            <a:ext cx="1737360" cy="566928"/>
          </a:xfrm>
          <a:prstGeom prst="rect">
            <a:avLst/>
          </a:prstGeom>
          <a:solidFill>
            <a:srgbClr val="E3F5E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11680" y="253288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9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912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749040" y="2532888"/>
            <a:ext cx="1737360" cy="566928"/>
          </a:xfrm>
          <a:prstGeom prst="rect">
            <a:avLst/>
          </a:prstGeom>
          <a:solidFill>
            <a:srgbClr val="FDECE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49040" y="253288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57200" y="3099816"/>
            <a:ext cx="1554480" cy="566928"/>
          </a:xfrm>
          <a:prstGeom prst="rect">
            <a:avLst/>
          </a:prstGeom>
          <a:solidFill>
            <a:srgbClr val="1E27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099816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Actual: Churn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011680" y="3099816"/>
            <a:ext cx="1737360" cy="566928"/>
          </a:xfrm>
          <a:prstGeom prst="rect">
            <a:avLst/>
          </a:prstGeom>
          <a:solidFill>
            <a:srgbClr val="FDECE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11680" y="3099816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3749040" y="3099816"/>
            <a:ext cx="1737360" cy="566928"/>
          </a:xfrm>
          <a:prstGeom prst="rect">
            <a:avLst/>
          </a:prstGeom>
          <a:solidFill>
            <a:srgbClr val="E3F5E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49040" y="3099816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9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295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57200" y="3803904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Diagonal (green) = correct predictions. Off-diagonal (red) = misclassifications.</a:t>
            </a:r>
            <a:endParaRPr lang="en-US" sz="1050" dirty="0"/>
          </a:p>
        </p:txBody>
      </p:sp>
      <p:graphicFrame>
        <p:nvGraphicFramePr>
          <p:cNvPr id="25" name="Chart 0" descr=""/>
          <p:cNvGraphicFramePr/>
          <p:nvPr/>
        </p:nvGraphicFramePr>
        <p:xfrm>
          <a:off x="6263640" y="1554480"/>
          <a:ext cx="5468112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6" name="Text 23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User Churn Prediction System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1457432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88720" y="329184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Explainable AI — SHAP Feature Importance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88720" y="8412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factors push a prediction toward churn?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554480"/>
          <a:ext cx="694944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7680960" y="160020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THIS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680960" y="1965960"/>
            <a:ext cx="4023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bar is a feature's average impact on the churn prediction across all customers.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bars — Monthly Charges and Tenure — drive predictions the most.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also shows direction: high charges push toward churn; long tenure pushes toward retention.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680960" y="4297680"/>
            <a:ext cx="4023360" cy="1645920"/>
          </a:xfrm>
          <a:prstGeom prst="roundRect">
            <a:avLst>
              <a:gd name="adj" fmla="val 4444"/>
            </a:avLst>
          </a:prstGeom>
          <a:solidFill>
            <a:srgbClr val="EAF1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882128" y="4425696"/>
            <a:ext cx="3621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TAKEAWAY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7882128" y="4718304"/>
            <a:ext cx="36210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offers are most effective when targeted at customers with high monthly charges, short tenure, and repeated support tickets on month-to-month contracts.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User Churn Prediction System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457432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88720" y="329184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Comparative Model Analysis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88720" y="8412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benchmarked against common baseline algorithms (illustrative)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600200"/>
          <a:ext cx="11274552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585216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was selected for deployment: highest accuracy and ROC-AUC among the tested algorithms, with better robustness to non-linear feature interactions and outliers.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User Churn Prediction System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457432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88720" y="329184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Streamlit Application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88720" y="8412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integrated views: analytics dashboard and single-customer prediction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5440680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" y="187452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560" dirty="0"/>
          </a:p>
        </p:txBody>
      </p:sp>
      <p:sp>
        <p:nvSpPr>
          <p:cNvPr id="9" name="Text 7"/>
          <p:cNvSpPr/>
          <p:nvPr/>
        </p:nvSpPr>
        <p:spPr>
          <a:xfrm>
            <a:off x="1600200" y="19202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View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31520" y="2606040"/>
            <a:ext cx="4892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customers overview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Churned-customer count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churn rate (%)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customer-data visualizations (by contract, tenure, charges, services)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45352" y="1600200"/>
            <a:ext cx="5440680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9050">
            <a:solidFill>
              <a:srgbClr val="E8604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748272" y="1874520"/>
            <a:ext cx="548640" cy="548640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13" name="Text 11"/>
          <p:cNvSpPr/>
          <p:nvPr/>
        </p:nvSpPr>
        <p:spPr>
          <a:xfrm>
            <a:off x="6748272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🔮</a:t>
            </a:r>
            <a:endParaRPr lang="en-US" sz="1560" dirty="0"/>
          </a:p>
        </p:txBody>
      </p:sp>
      <p:sp>
        <p:nvSpPr>
          <p:cNvPr id="14" name="Text 12"/>
          <p:cNvSpPr/>
          <p:nvPr/>
        </p:nvSpPr>
        <p:spPr>
          <a:xfrm>
            <a:off x="7388352" y="19202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Prediction View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519672" y="2606040"/>
            <a:ext cx="4892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form to input customer information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churn prediction (Stay / Churn)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probability score (%)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level badge with SHAP-based explanation and retention recommendation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User Churn Prediction System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457432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88720" y="329184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Prediction Output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88720" y="8412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real-time result as shown in the Streamlit dashboard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975104" y="1737360"/>
            <a:ext cx="8229600" cy="402336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sx="100000" sy="100000" kx="0" ky="0" algn="bl" rotWithShape="0" blurRad="152400" dist="50800" dir="5400000">
              <a:srgbClr val="1E2761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0" y="2057400"/>
            <a:ext cx="3566160" cy="1051560"/>
          </a:xfrm>
          <a:prstGeom prst="roundRect">
            <a:avLst>
              <a:gd name="adj" fmla="val 8696"/>
            </a:avLst>
          </a:prstGeom>
          <a:solidFill>
            <a:srgbClr val="E3F5EC"/>
          </a:solidFill>
          <a:ln/>
        </p:spPr>
      </p:sp>
      <p:sp>
        <p:nvSpPr>
          <p:cNvPr id="8" name="Text 6"/>
          <p:cNvSpPr/>
          <p:nvPr/>
        </p:nvSpPr>
        <p:spPr>
          <a:xfrm>
            <a:off x="2468880" y="215798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9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468880" y="24231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9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is likely to STAY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035040" y="2057400"/>
            <a:ext cx="3840480" cy="1051560"/>
          </a:xfrm>
          <a:prstGeom prst="roundRect">
            <a:avLst>
              <a:gd name="adj" fmla="val 8696"/>
            </a:avLst>
          </a:prstGeom>
          <a:solidFill>
            <a:srgbClr val="EAF1FF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215798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PROBABILITY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217920" y="2395728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10.83%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2286000" y="3291840"/>
            <a:ext cx="3566160" cy="960120"/>
          </a:xfrm>
          <a:prstGeom prst="roundRect">
            <a:avLst>
              <a:gd name="adj" fmla="val 9524"/>
            </a:avLst>
          </a:prstGeom>
          <a:solidFill>
            <a:srgbClr val="E3F5EC"/>
          </a:solidFill>
          <a:ln w="12700">
            <a:solidFill>
              <a:srgbClr val="1C9D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68880" y="33832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9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LEVEL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468880" y="363931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9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035040" y="3291840"/>
            <a:ext cx="3840480" cy="960120"/>
          </a:xfrm>
          <a:prstGeom prst="roundRect">
            <a:avLst>
              <a:gd name="adj" fmla="val 9524"/>
            </a:avLst>
          </a:prstGeom>
          <a:solidFill>
            <a:srgbClr val="FFF7E6"/>
          </a:solidFill>
          <a:ln w="12700">
            <a:solidFill>
              <a:srgbClr val="E0A6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33832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FACTOR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17920" y="363931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6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tenure, stable contract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286000" y="4434840"/>
            <a:ext cx="7589520" cy="1097280"/>
          </a:xfrm>
          <a:prstGeom prst="roundRect">
            <a:avLst>
              <a:gd name="adj" fmla="val 8333"/>
            </a:avLst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2468880" y="452628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468880" y="480060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is stable — maintain current services and monitor periodically.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User Churn Prediction System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57432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88720" y="329184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2121408" cy="3840480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75004" y="208026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1175004" y="20802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594360" y="2926080"/>
            <a:ext cx="1847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Early Churn Detection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21792" y="3703320"/>
            <a:ext cx="179222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at-risk customers before they leave, not after.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61488" y="1828800"/>
            <a:ext cx="2121408" cy="3840480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79292" y="208026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3479292" y="20802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2898648" y="2926080"/>
            <a:ext cx="1847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Improved Retention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926080" y="3703320"/>
            <a:ext cx="179222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recommendations help teams act where it matters most.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65776" y="1828800"/>
            <a:ext cx="2121408" cy="3840480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783580" y="208026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5783580" y="20802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5202936" y="2926080"/>
            <a:ext cx="1847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AI-Based Predictions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230368" y="3703320"/>
            <a:ext cx="179222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Consistent, data-driven scoring at scale, beyond manual review.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370064" y="1828800"/>
            <a:ext cx="2121408" cy="3840480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087868" y="208026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8087868" y="20802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7507224" y="2926080"/>
            <a:ext cx="1847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Explainable Decisions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534656" y="3703320"/>
            <a:ext cx="179222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makes every prediction transparent and auditable.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674352" y="1828800"/>
            <a:ext cx="2121408" cy="3840480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4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0392156" y="208026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10392156" y="20802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9811512" y="2926080"/>
            <a:ext cx="1847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Dashboard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9838944" y="3703320"/>
            <a:ext cx="179222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users interact directly — no coding required.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User Churn Prediction System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457432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88720" y="329184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55778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E2761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05740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</a:t>
            </a:r>
            <a:endParaRPr lang="en-US" sz="1820" dirty="0"/>
          </a:p>
        </p:txBody>
      </p:sp>
      <p:sp>
        <p:nvSpPr>
          <p:cNvPr id="8" name="Text 6"/>
          <p:cNvSpPr/>
          <p:nvPr/>
        </p:nvSpPr>
        <p:spPr>
          <a:xfrm>
            <a:off x="1645920" y="187452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customer monitoring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645920" y="228600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Continuously stream and score customer activity instead of batch snapshots.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309360" y="1691640"/>
            <a:ext cx="55778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E2761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675120" y="205740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</a:t>
            </a:r>
            <a:endParaRPr lang="en-US" sz="1820" dirty="0"/>
          </a:p>
        </p:txBody>
      </p:sp>
      <p:sp>
        <p:nvSpPr>
          <p:cNvPr id="13" name="Text 11"/>
          <p:cNvSpPr/>
          <p:nvPr/>
        </p:nvSpPr>
        <p:spPr>
          <a:xfrm>
            <a:off x="7498080" y="187452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Learning-based prediction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498080" y="228600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neural architectures for richer behavioral patterns.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291840"/>
            <a:ext cx="55778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E2761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2960" y="365760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657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</a:t>
            </a:r>
            <a:endParaRPr lang="en-US" sz="1820" dirty="0"/>
          </a:p>
        </p:txBody>
      </p:sp>
      <p:sp>
        <p:nvSpPr>
          <p:cNvPr id="18" name="Text 16"/>
          <p:cNvSpPr/>
          <p:nvPr/>
        </p:nvSpPr>
        <p:spPr>
          <a:xfrm>
            <a:off x="1645920" y="347472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system integration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645920" y="388620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predictions directly into existing customer-relationship tools.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309360" y="3291840"/>
            <a:ext cx="55778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E2761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675120" y="365760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6675120" y="3657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✉</a:t>
            </a:r>
            <a:endParaRPr lang="en-US" sz="1820" dirty="0"/>
          </a:p>
        </p:txBody>
      </p:sp>
      <p:sp>
        <p:nvSpPr>
          <p:cNvPr id="23" name="Text 21"/>
          <p:cNvSpPr/>
          <p:nvPr/>
        </p:nvSpPr>
        <p:spPr>
          <a:xfrm>
            <a:off x="7498080" y="347472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customer communication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498080" y="388620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retention offers and messages automatically for high-risk customers.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4892040"/>
            <a:ext cx="55778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E2761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22960" y="525780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" y="5257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1820" dirty="0"/>
          </a:p>
        </p:txBody>
      </p:sp>
      <p:sp>
        <p:nvSpPr>
          <p:cNvPr id="28" name="Text 26"/>
          <p:cNvSpPr/>
          <p:nvPr/>
        </p:nvSpPr>
        <p:spPr>
          <a:xfrm>
            <a:off x="1645920" y="507492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recommendation system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645920" y="548640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 retention offers based on individual churn drivers.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User Churn Prediction System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457432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011680"/>
            <a:ext cx="5486400" cy="54864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400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60020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371600" y="1554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a complete AI-powered customer churn prediction system, end to end.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2441448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4414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71600" y="239572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effectively predicts customer churn behavior with 85.63% accuracy and 0.92 ROC-AUC.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3282696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2826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71600" y="3236976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explainability turns black-box predictions into transparent, trustworthy insights.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2960" y="4123944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1239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371600" y="4078224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provides an interactive, real-time deployment platform for business users.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22960" y="4965192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9651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71600" y="491947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Together, these components help businesses detect risk early and reduce customer loss.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User Churn Prediction System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457432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94560" y="4206240"/>
            <a:ext cx="4572000" cy="45720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3" name="Shape 1"/>
          <p:cNvSpPr/>
          <p:nvPr/>
        </p:nvSpPr>
        <p:spPr>
          <a:xfrm>
            <a:off x="8869680" y="-2011680"/>
            <a:ext cx="5486400" cy="54864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6517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822960" y="36118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Answers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822960" y="4480560"/>
            <a:ext cx="969264" cy="402336"/>
          </a:xfrm>
          <a:prstGeom prst="roundRect">
            <a:avLst>
              <a:gd name="adj" fmla="val 50000"/>
            </a:avLst>
          </a:prstGeom>
          <a:solidFill>
            <a:srgbClr val="141B4D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480560"/>
            <a:ext cx="969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956816" y="4480560"/>
            <a:ext cx="1975104" cy="402336"/>
          </a:xfrm>
          <a:prstGeom prst="roundRect">
            <a:avLst>
              <a:gd name="adj" fmla="val 50000"/>
            </a:avLst>
          </a:prstGeom>
          <a:solidFill>
            <a:srgbClr val="141B4D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56816" y="4480560"/>
            <a:ext cx="19751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096512" y="4480560"/>
            <a:ext cx="768096" cy="402336"/>
          </a:xfrm>
          <a:prstGeom prst="roundRect">
            <a:avLst>
              <a:gd name="adj" fmla="val 50000"/>
            </a:avLst>
          </a:prstGeom>
          <a:solidFill>
            <a:srgbClr val="141B4D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96512" y="4480560"/>
            <a:ext cx="7680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0" y="4480560"/>
            <a:ext cx="1271016" cy="402336"/>
          </a:xfrm>
          <a:prstGeom prst="roundRect">
            <a:avLst>
              <a:gd name="adj" fmla="val 50000"/>
            </a:avLst>
          </a:prstGeom>
          <a:solidFill>
            <a:srgbClr val="141B4D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4480560"/>
            <a:ext cx="12710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User Churn Prediction System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457432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2026-08-17T22:49:52Z</dcterms:created>
  <dcterms:modified xsi:type="dcterms:W3CDTF">2026-08-17T22:49:52Z</dcterms:modified>
</cp:coreProperties>
</file>